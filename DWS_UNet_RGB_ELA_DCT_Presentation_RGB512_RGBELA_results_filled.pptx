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</p:sldMasterIdLst>
  <p:notesMasterIdLst>
    <p:notesMasterId r:id="rId31"/>
  </p:notesMasterIdLst>
  <p:sldIdLst>
    <p:sldId id="324" r:id="rId3"/>
    <p:sldId id="390" r:id="rId10"/>
    <p:sldId id="391" r:id="rId11"/>
    <p:sldId id="392" r:id="rId12"/>
    <p:sldId id="393" r:id="rId13"/>
    <p:sldId id="394" r:id="rId14"/>
    <p:sldId id="395" r:id="rId15"/>
    <p:sldId id="396" r:id="rId16"/>
    <p:sldId id="397" r:id="rId17"/>
    <p:sldId id="398" r:id="rId18"/>
    <p:sldId id="399" r:id="rId19"/>
    <p:sldId id="400" r:id="rId20"/>
    <p:sldId id="401" r:id="rId21"/>
    <p:sldId id="402" r:id="rId22"/>
    <p:sldId id="403" r:id="rId23"/>
    <p:sldId id="404" r:id="rId24"/>
    <p:sldId id="405" r:id="rId25"/>
    <p:sldId id="406" r:id="rId26"/>
    <p:sldId id="407" r:id="rId27"/>
    <p:sldId id="408" r:id="rId28"/>
    <p:sldId id="409" r:id="rId29"/>
    <p:sldId id="410" r:id="rId9"/>
    <p:sldId id="411" r:id="rId8"/>
    <p:sldId id="412" r:id="rId7"/>
    <p:sldId id="413" r:id="rId6"/>
    <p:sldId id="414" r:id="rId5"/>
    <p:sldId id="415" r:id="rId4"/>
    <p:sldId id="416" r:id="rId36"/>
    <p:sldId id="417" r:id="rId37"/>
    <p:sldId id="389" r:id="rId30"/>
    <p:sldId id="418" r:id="rId38"/>
  </p:sldIdLst>
  <p:sldSz cx="9144000" cy="6858000" type="screen4x3"/>
  <p:notesSz cx="6781800" cy="9926638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Gulim" panose="020B0600000101010101" pitchFamily="34" charset="-127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Gulim" panose="020B0600000101010101" pitchFamily="34" charset="-127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Gulim" panose="020B0600000101010101" pitchFamily="34" charset="-127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Gulim" panose="020B0600000101010101" pitchFamily="34" charset="-127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Gulim" panose="020B0600000101010101" pitchFamily="34" charset="-127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Gulim" panose="020B0600000101010101" pitchFamily="34" charset="-127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Gulim" panose="020B0600000101010101" pitchFamily="34" charset="-127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Gulim" panose="020B0600000101010101" pitchFamily="34" charset="-127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Gulim" panose="020B0600000101010101" pitchFamily="34" charset="-127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02" autoAdjust="0"/>
  </p:normalViewPr>
  <p:slideViewPr>
    <p:cSldViewPr>
      <p:cViewPr varScale="1">
        <p:scale>
          <a:sx n="76" d="100"/>
          <a:sy n="76" d="100"/>
        </p:scale>
        <p:origin x="1642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7.xml"/><Relationship Id="rId5" Type="http://schemas.openxmlformats.org/officeDocument/2006/relationships/slide" Target="slides/slide26.xml"/><Relationship Id="rId6" Type="http://schemas.openxmlformats.org/officeDocument/2006/relationships/slide" Target="slides/slide25.xml"/><Relationship Id="rId7" Type="http://schemas.openxmlformats.org/officeDocument/2006/relationships/slide" Target="slides/slide24.xml"/><Relationship Id="rId8" Type="http://schemas.openxmlformats.org/officeDocument/2006/relationships/slide" Target="slides/slide23.xml"/><Relationship Id="rId9" Type="http://schemas.openxmlformats.org/officeDocument/2006/relationships/slide" Target="slides/slide22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30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730B792-63FD-503F-DC3F-E83279C30AF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38463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2AC1BA-B860-68BD-18C9-560078C2DC0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41750" y="0"/>
            <a:ext cx="2938463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6589627B-6845-43A4-96FA-4D0E137667C4}" type="datetimeFigureOut">
              <a:rPr lang="en-US"/>
              <a:pPr>
                <a:defRPr/>
              </a:pPr>
              <a:t>10/11/2026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70D0C490-CA1E-A151-E954-768809954B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9638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E0311ACC-4293-583A-993E-B4579746DA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7863" y="4714875"/>
            <a:ext cx="5426075" cy="4467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DAB155-63B9-DF9D-D35B-A68C6494714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38463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E15741-D7D5-BD6C-708D-F28D68721B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41750" y="9428163"/>
            <a:ext cx="2938463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D9B85B72-4988-4E8D-8A36-320A8A83D508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>
            <a:extLst>
              <a:ext uri="{FF2B5EF4-FFF2-40B4-BE49-F238E27FC236}">
                <a16:creationId xmlns:a16="http://schemas.microsoft.com/office/drawing/2014/main" id="{F3D841AF-60FD-1E1D-BDBD-491A5EA532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>
            <a:extLst>
              <a:ext uri="{FF2B5EF4-FFF2-40B4-BE49-F238E27FC236}">
                <a16:creationId xmlns:a16="http://schemas.microsoft.com/office/drawing/2014/main" id="{7A579E7E-67AD-CF08-8EAA-5985B78B94E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CA" altLang="en-US"/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D0342EC5-2AFF-DCE6-E4D2-C49B096C78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9pPr>
          </a:lstStyle>
          <a:p>
            <a:fld id="{D3A5AB4C-C054-4C65-BDAF-D705DD9FFF2B}" type="slidenum">
              <a:rPr lang="en-US" altLang="en-US">
                <a:latin typeface="Calibri" panose="020F0502020204030204" pitchFamily="34" charset="0"/>
              </a:rPr>
              <a:pPr/>
              <a:t>1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6149" name="Date Placeholder 4">
            <a:extLst>
              <a:ext uri="{FF2B5EF4-FFF2-40B4-BE49-F238E27FC236}">
                <a16:creationId xmlns:a16="http://schemas.microsoft.com/office/drawing/2014/main" id="{78BC16EA-7786-4B12-6514-8AAF417B875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03FC8E5-11E9-438D-BF7C-DF66090B9E3F}" type="datetime1">
              <a:rPr lang="en-US" altLang="en-US" smtClean="0">
                <a:latin typeface="Calibri" panose="020F050202020403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10/11/2026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92A2A1C7-20C7-4FE9-690A-802035FDAA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3933825"/>
            <a:ext cx="8153400" cy="935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endParaRPr lang="ko-KR" altLang="en-US" sz="2400">
              <a:latin typeface="+mn-lt"/>
              <a:ea typeface="Gulim" pitchFamily="50" charset="-127"/>
              <a:cs typeface="+mn-cs"/>
            </a:endParaRP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6D3FC401-45C1-9268-7366-ACC813C4A246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2636838"/>
            <a:ext cx="9144000" cy="71437"/>
          </a:xfrm>
          <a:prstGeom prst="rect">
            <a:avLst/>
          </a:prstGeom>
          <a:gradFill rotWithShape="1">
            <a:gsLst>
              <a:gs pos="0">
                <a:srgbClr val="766000"/>
              </a:gs>
              <a:gs pos="100000">
                <a:srgbClr val="FFDE53"/>
              </a:gs>
            </a:gsLst>
            <a:lin ang="0" scaled="1"/>
          </a:gradFill>
          <a:ln w="3175">
            <a:solidFill>
              <a:srgbClr val="FFDE53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auto">
              <a:spcAft>
                <a:spcPts val="0"/>
              </a:spcAft>
              <a:defRPr/>
            </a:pPr>
            <a:endParaRPr kumimoji="1" lang="ko-KR" altLang="en-US" sz="2400">
              <a:latin typeface="Tahoma" pitchFamily="34" charset="0"/>
              <a:ea typeface="Gulim" pitchFamily="50" charset="-127"/>
              <a:cs typeface="+mn-cs"/>
            </a:endParaRPr>
          </a:p>
        </p:txBody>
      </p:sp>
      <p:pic>
        <p:nvPicPr>
          <p:cNvPr id="4" name="Picture 8" descr="neomail.gif">
            <a:extLst>
              <a:ext uri="{FF2B5EF4-FFF2-40B4-BE49-F238E27FC236}">
                <a16:creationId xmlns:a16="http://schemas.microsoft.com/office/drawing/2014/main" id="{10ECE0B3-6F29-3BA4-36CA-CEF36C60C3A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8075" y="3429000"/>
            <a:ext cx="1685925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56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74625" y="981075"/>
            <a:ext cx="8718550" cy="1466850"/>
          </a:xfrm>
          <a:noFill/>
        </p:spPr>
        <p:txBody>
          <a:bodyPr lIns="91440" tIns="45720" rIns="91440" bIns="45720" anchor="b" anchorCtr="0"/>
          <a:lstStyle>
            <a:lvl1pPr>
              <a:defRPr sz="3600" b="1">
                <a:latin typeface="Times New Roman" pitchFamily="18" charset="0"/>
                <a:ea typeface="휴먼명조" pitchFamily="2" charset="-127"/>
                <a:cs typeface="Times New Roman" pitchFamily="18" charset="0"/>
              </a:defRPr>
            </a:lvl1pPr>
          </a:lstStyle>
          <a:p>
            <a:r>
              <a:rPr lang="en-US" altLang="ko-KR"/>
              <a:t>Click to edit Master title style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28620011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9596083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2800" b="1" cap="all"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96040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0825" y="547688"/>
            <a:ext cx="4244975" cy="57610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547688"/>
            <a:ext cx="4244975" cy="57610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49079719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15725296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33507421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3281938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8181101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56050622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68819850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0"/>
            <a:ext cx="2286000" cy="63087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6705600" cy="63087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02672848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32886705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B9BF43-120C-0D39-936D-0730A1B09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44D5D6-5590-405C-8D01-C5BD1436068A}" type="datetimeFigureOut">
              <a:rPr lang="en-US"/>
              <a:pPr>
                <a:defRPr/>
              </a:pPr>
              <a:t>10/11/2026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8EF4F8-EC0E-BCE4-8A30-D293FD1D0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BEF94-C356-76D1-7033-100D2A650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3B5E28C-41A3-43FB-B40C-79F6389E6D6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010568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B582C3-7EC3-EFA8-3EAC-B0C178A0C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8FF357-0F20-485F-9C73-6D64ABAA9A0E}" type="datetimeFigureOut">
              <a:rPr lang="en-US"/>
              <a:pPr>
                <a:defRPr/>
              </a:pPr>
              <a:t>10/11/2026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157BA7-0023-C4BD-F4EB-0A5D0201D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6D53FD-DFF7-9CEF-96E1-A552426F9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1C0516-AFE8-4130-9211-A8E0D9DC764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768286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35CB4F-72C6-21AC-F7E7-ACA4283FE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76F8E5-5C5E-454C-84C0-5AFC69597A2F}" type="datetimeFigureOut">
              <a:rPr lang="en-US"/>
              <a:pPr>
                <a:defRPr/>
              </a:pPr>
              <a:t>10/11/2026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407674-7906-D555-6A3F-C013BF3AF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CFF10F-A33F-F454-DEE1-99BF3DA25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325EC2F-7967-4AB5-BF1B-46FC1702721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76515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9F050FF-2239-A5E0-F27D-A21050520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4A9A51-033D-4347-9158-CC4B39D76EED}" type="datetimeFigureOut">
              <a:rPr lang="en-US"/>
              <a:pPr>
                <a:defRPr/>
              </a:pPr>
              <a:t>10/11/2026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F71898F3-3F6E-158E-0168-F99DBB06D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FCAAB8A-2178-B782-EA79-ED9B36B2D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2E4478F-9190-4E25-9C60-CE2AAE13670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428063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88A3F614-4A87-3BF7-F974-218489042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5D3675-9F01-40ED-9067-46BF74DFED13}" type="datetimeFigureOut">
              <a:rPr lang="en-US"/>
              <a:pPr>
                <a:defRPr/>
              </a:pPr>
              <a:t>10/11/2026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4FA5F49-D604-41B1-994C-658D6DE29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E6854D2-63E8-A9AA-3563-D3C70A510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E8329F-82D4-4DF8-B0C7-79C067F9023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6158267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E9D6938-25CD-DF8C-3CC0-BDDA96412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44E7A7-8A1F-4B9F-B79C-599FE74F4C6C}" type="datetimeFigureOut">
              <a:rPr lang="en-US"/>
              <a:pPr>
                <a:defRPr/>
              </a:pPr>
              <a:t>10/11/2026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5040626D-2EFF-BDE2-5A36-B4F498013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C11B509-6210-5D9F-102D-67248EA94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66610A2-F71A-485E-A3EE-94D5F3B68D0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446944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36BE0B47-59BA-BDB0-372E-A292E2E91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7E7571-D483-4079-8741-B784C47394BE}" type="datetimeFigureOut">
              <a:rPr lang="en-US"/>
              <a:pPr>
                <a:defRPr/>
              </a:pPr>
              <a:t>10/11/2026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D5DF6229-A383-C3DB-F11C-B9A14B08F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EA5208A-BAED-425F-8CD2-8E5EACA9B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E609D7-75A7-45D8-9D57-C073CA68767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27500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4AE4BF40-E36B-B03F-FF78-620A86185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19182D-54AD-4F3F-B634-280DAB6D1FE0}" type="datetimeFigureOut">
              <a:rPr lang="en-US"/>
              <a:pPr>
                <a:defRPr/>
              </a:pPr>
              <a:t>10/11/2026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CA5AA02-016E-3881-B739-8C1E051F5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73C5EE1-0A1A-E1C3-275D-B4080DBB8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FB49C3B-E80A-4A60-8A5D-3868B6E308E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0575982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768A5F7-45FA-4375-3F2A-84792C403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6DE2C9-2C5A-46E3-BFE4-00F731AEFC87}" type="datetimeFigureOut">
              <a:rPr lang="en-US"/>
              <a:pPr>
                <a:defRPr/>
              </a:pPr>
              <a:t>10/11/2026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7C2F2941-3166-B2B1-9BB3-E03B044F0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9F2C0E7-1F86-50CE-F419-0CC8C5B14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DA9BC57-3F02-4ECC-BD7A-1778EC30B2F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8027813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677D6F-0DB9-9522-A074-078B5CCBA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5696CA-4383-4035-985D-5C890AF5E002}" type="datetimeFigureOut">
              <a:rPr lang="en-US"/>
              <a:pPr>
                <a:defRPr/>
              </a:pPr>
              <a:t>10/11/2026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E56156-6845-68E1-D7B0-0578E63A6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A3B89B-75FB-97B9-DA27-6B4C9B030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F1321B-5E89-4DAE-B6EE-A8241D1A863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8483375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E5AB41-E5AB-BFE3-97F5-8503DAC8F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62BB6C-C938-49A0-835C-896678784CB2}" type="datetimeFigureOut">
              <a:rPr lang="en-US"/>
              <a:pPr>
                <a:defRPr/>
              </a:pPr>
              <a:t>10/11/2026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8E1FAE-D97B-158D-35DF-853693F6B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B11AA1-D094-58DD-10E6-F98A1E9A9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B7FA8E-C843-4267-B062-3BA47754E15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0601482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jpeg"/><Relationship Id="rId15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D73A1E5C-57D3-9297-5220-C946277A55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9144000" cy="836613"/>
          </a:xfrm>
          <a:prstGeom prst="rect">
            <a:avLst/>
          </a:prstGeom>
          <a:gradFill rotWithShape="0">
            <a:gsLst>
              <a:gs pos="0">
                <a:srgbClr val="D0D0D0"/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8000" tIns="10800" rIns="18000" bIns="10800" numCol="1" anchor="ctr" anchorCtr="1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Title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990F787B-4FD4-C911-38D2-B6DE7D8DAD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44463" y="928688"/>
            <a:ext cx="8642350" cy="5472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Master </a:t>
            </a:r>
            <a:endParaRPr lang="ko-KR" altLang="en-US"/>
          </a:p>
          <a:p>
            <a:pPr lvl="1"/>
            <a:r>
              <a:rPr lang="en-US" altLang="ko-KR"/>
              <a:t>Master </a:t>
            </a:r>
          </a:p>
          <a:p>
            <a:pPr lvl="2"/>
            <a:r>
              <a:rPr lang="en-US" altLang="ko-KR"/>
              <a:t>Master</a:t>
            </a:r>
            <a:endParaRPr lang="ko-KR" altLang="en-US"/>
          </a:p>
          <a:p>
            <a:pPr lvl="3"/>
            <a:r>
              <a:rPr lang="en-US" altLang="ko-KR"/>
              <a:t>Master</a:t>
            </a:r>
            <a:endParaRPr lang="ko-KR" altLang="en-US"/>
          </a:p>
          <a:p>
            <a:pPr lvl="4"/>
            <a:r>
              <a:rPr lang="en-US" altLang="ko-KR"/>
              <a:t>Master</a:t>
            </a:r>
            <a:endParaRPr lang="ko-KR" altLang="en-US"/>
          </a:p>
        </p:txBody>
      </p:sp>
      <p:sp>
        <p:nvSpPr>
          <p:cNvPr id="154630" name="Rectangle 6">
            <a:extLst>
              <a:ext uri="{FF2B5EF4-FFF2-40B4-BE49-F238E27FC236}">
                <a16:creationId xmlns:a16="http://schemas.microsoft.com/office/drawing/2014/main" id="{38697219-75F4-D295-46DC-71B1965196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75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  <a:ea typeface="Gulim" panose="020B0600000101010101" pitchFamily="34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anose="020B0606020202030204" pitchFamily="34" charset="0"/>
                <a:ea typeface="Gulim" panose="020B0600000101010101" pitchFamily="34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Gulim" panose="020B0600000101010101" pitchFamily="34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Gulim" panose="020B0600000101010101" pitchFamily="34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Gulim" panose="020B0600000101010101" pitchFamily="34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Gulim" panose="020B0600000101010101" pitchFamily="34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Gulim" panose="020B0600000101010101" pitchFamily="34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Gulim" panose="020B0600000101010101" pitchFamily="34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Gulim" panose="020B0600000101010101" pitchFamily="34" charset="-127"/>
              </a:defRPr>
            </a:lvl9pPr>
          </a:lstStyle>
          <a:p>
            <a:pPr algn="r"/>
            <a:fld id="{9C267A79-3C62-4E1E-A5EC-9660746A39E6}" type="slidenum">
              <a:rPr lang="ko-KR" altLang="en-US" sz="1400">
                <a:latin typeface="Tahoma" panose="020B0604030504040204" pitchFamily="34" charset="0"/>
              </a:rPr>
              <a:pPr algn="r"/>
              <a:t>‹#›</a:t>
            </a:fld>
            <a:endParaRPr lang="en-US" altLang="ko-KR" sz="1400">
              <a:latin typeface="Tahoma" panose="020B0604030504040204" pitchFamily="34" charset="0"/>
            </a:endParaRPr>
          </a:p>
        </p:txBody>
      </p:sp>
      <p:sp>
        <p:nvSpPr>
          <p:cNvPr id="154631" name="Rectangle 7">
            <a:extLst>
              <a:ext uri="{FF2B5EF4-FFF2-40B4-BE49-F238E27FC236}">
                <a16:creationId xmlns:a16="http://schemas.microsoft.com/office/drawing/2014/main" id="{5C5C7485-94FF-5C56-59A8-4A29233326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2188" y="6215063"/>
            <a:ext cx="3143250" cy="57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 fontAlgn="auto">
              <a:spcAft>
                <a:spcPts val="0"/>
              </a:spcAft>
              <a:defRPr/>
            </a:pPr>
            <a:r>
              <a:rPr lang="en-US" altLang="ko-KR" sz="1600" dirty="0">
                <a:solidFill>
                  <a:srgbClr val="444444"/>
                </a:solidFill>
                <a:latin typeface="Constantia" pitchFamily="18" charset="0"/>
                <a:ea typeface="+mn-ea"/>
                <a:cs typeface="Times New Roman" pitchFamily="18" charset="0"/>
              </a:rPr>
              <a:t>Department of CSE, CUET</a:t>
            </a:r>
          </a:p>
        </p:txBody>
      </p:sp>
      <p:sp>
        <p:nvSpPr>
          <p:cNvPr id="154628" name="Rectangle 4">
            <a:extLst>
              <a:ext uri="{FF2B5EF4-FFF2-40B4-BE49-F238E27FC236}">
                <a16:creationId xmlns:a16="http://schemas.microsoft.com/office/drawing/2014/main" id="{CA9A876A-E8CB-9953-711D-6A2510CE344E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6351588"/>
            <a:ext cx="9144000" cy="69850"/>
          </a:xfrm>
          <a:prstGeom prst="rect">
            <a:avLst/>
          </a:prstGeom>
          <a:gradFill rotWithShape="0">
            <a:gsLst>
              <a:gs pos="0">
                <a:srgbClr val="333333"/>
              </a:gs>
              <a:gs pos="100000">
                <a:srgbClr val="D0D0D0"/>
              </a:gs>
            </a:gsLst>
            <a:lin ang="0" scaled="1"/>
          </a:gradFill>
          <a:ln w="3175">
            <a:solidFill>
              <a:srgbClr val="ABABAB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auto">
              <a:spcAft>
                <a:spcPts val="0"/>
              </a:spcAft>
              <a:defRPr/>
            </a:pPr>
            <a:endParaRPr kumimoji="1" lang="ko-KR" altLang="en-US" sz="2400">
              <a:latin typeface="Tahoma" pitchFamily="34" charset="0"/>
              <a:ea typeface="Gulim" pitchFamily="50" charset="-127"/>
              <a:cs typeface="+mn-cs"/>
            </a:endParaRPr>
          </a:p>
        </p:txBody>
      </p:sp>
      <p:sp>
        <p:nvSpPr>
          <p:cNvPr id="154632" name="Rectangle 8">
            <a:extLst>
              <a:ext uri="{FF2B5EF4-FFF2-40B4-BE49-F238E27FC236}">
                <a16:creationId xmlns:a16="http://schemas.microsoft.com/office/drawing/2014/main" id="{2F04E697-C527-A1EE-DE46-C1793428DAD7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857250"/>
            <a:ext cx="9144000" cy="71438"/>
          </a:xfrm>
          <a:prstGeom prst="rect">
            <a:avLst/>
          </a:prstGeom>
          <a:gradFill rotWithShape="1">
            <a:gsLst>
              <a:gs pos="0">
                <a:srgbClr val="766000"/>
              </a:gs>
              <a:gs pos="100000">
                <a:srgbClr val="FFDE53"/>
              </a:gs>
            </a:gsLst>
            <a:lin ang="0" scaled="1"/>
          </a:gradFill>
          <a:ln w="3175">
            <a:solidFill>
              <a:srgbClr val="E8BC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auto">
              <a:spcAft>
                <a:spcPts val="0"/>
              </a:spcAft>
              <a:defRPr/>
            </a:pPr>
            <a:endParaRPr kumimoji="1" lang="ko-KR" altLang="en-US" sz="2400">
              <a:latin typeface="Tahoma" pitchFamily="34" charset="0"/>
              <a:ea typeface="Gulim" pitchFamily="50" charset="-127"/>
              <a:cs typeface="+mn-cs"/>
            </a:endParaRPr>
          </a:p>
        </p:txBody>
      </p:sp>
      <p:pic>
        <p:nvPicPr>
          <p:cNvPr id="1032" name="Picture 8" descr="Picture1.jpg">
            <a:extLst>
              <a:ext uri="{FF2B5EF4-FFF2-40B4-BE49-F238E27FC236}">
                <a16:creationId xmlns:a16="http://schemas.microsoft.com/office/drawing/2014/main" id="{5E23CB6B-ADA8-B001-9605-A53A88E930D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38" y="6215063"/>
            <a:ext cx="500062" cy="614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</p:sldLayoutIdLst>
  <p:transition/>
  <p:txStyles>
    <p:titleStyle>
      <a:lvl1pPr algn="ctr" rtl="0" fontAlgn="ctr" latinLnBrk="1">
        <a:spcBef>
          <a:spcPct val="0"/>
        </a:spcBef>
        <a:spcAft>
          <a:spcPct val="0"/>
        </a:spcAft>
        <a:defRPr kumimoji="1" sz="3200">
          <a:solidFill>
            <a:schemeClr val="bg2"/>
          </a:solidFill>
          <a:latin typeface="Times New Roman" pitchFamily="18" charset="0"/>
          <a:ea typeface="+mj-ea"/>
          <a:cs typeface="Times New Roman" pitchFamily="18" charset="0"/>
        </a:defRPr>
      </a:lvl1pPr>
      <a:lvl2pPr algn="ctr" rtl="0" fontAlgn="ctr" latinLnBrk="1">
        <a:spcBef>
          <a:spcPct val="0"/>
        </a:spcBef>
        <a:spcAft>
          <a:spcPct val="0"/>
        </a:spcAft>
        <a:defRPr kumimoji="1" sz="3200">
          <a:solidFill>
            <a:schemeClr val="bg2"/>
          </a:solidFill>
          <a:latin typeface="Times New Roman" pitchFamily="18" charset="0"/>
          <a:ea typeface="Gulim" pitchFamily="50" charset="-127"/>
          <a:cs typeface="Times New Roman" pitchFamily="18" charset="0"/>
        </a:defRPr>
      </a:lvl2pPr>
      <a:lvl3pPr algn="ctr" rtl="0" fontAlgn="ctr" latinLnBrk="1">
        <a:spcBef>
          <a:spcPct val="0"/>
        </a:spcBef>
        <a:spcAft>
          <a:spcPct val="0"/>
        </a:spcAft>
        <a:defRPr kumimoji="1" sz="3200">
          <a:solidFill>
            <a:schemeClr val="bg2"/>
          </a:solidFill>
          <a:latin typeface="Times New Roman" pitchFamily="18" charset="0"/>
          <a:ea typeface="Gulim" pitchFamily="50" charset="-127"/>
          <a:cs typeface="Times New Roman" pitchFamily="18" charset="0"/>
        </a:defRPr>
      </a:lvl3pPr>
      <a:lvl4pPr algn="ctr" rtl="0" fontAlgn="ctr" latinLnBrk="1">
        <a:spcBef>
          <a:spcPct val="0"/>
        </a:spcBef>
        <a:spcAft>
          <a:spcPct val="0"/>
        </a:spcAft>
        <a:defRPr kumimoji="1" sz="3200">
          <a:solidFill>
            <a:schemeClr val="bg2"/>
          </a:solidFill>
          <a:latin typeface="Times New Roman" pitchFamily="18" charset="0"/>
          <a:ea typeface="Gulim" pitchFamily="50" charset="-127"/>
          <a:cs typeface="Times New Roman" pitchFamily="18" charset="0"/>
        </a:defRPr>
      </a:lvl4pPr>
      <a:lvl5pPr algn="ctr" rtl="0" fontAlgn="ctr" latinLnBrk="1">
        <a:spcBef>
          <a:spcPct val="0"/>
        </a:spcBef>
        <a:spcAft>
          <a:spcPct val="0"/>
        </a:spcAft>
        <a:defRPr kumimoji="1" sz="3200">
          <a:solidFill>
            <a:schemeClr val="bg2"/>
          </a:solidFill>
          <a:latin typeface="Times New Roman" pitchFamily="18" charset="0"/>
          <a:ea typeface="Gulim" pitchFamily="50" charset="-127"/>
          <a:cs typeface="Times New Roman" pitchFamily="18" charset="0"/>
        </a:defRPr>
      </a:lvl5pPr>
      <a:lvl6pPr marL="457200" algn="ctr" rtl="0" eaLnBrk="1" fontAlgn="ctr" latinLnBrk="1" hangingPunct="1">
        <a:spcBef>
          <a:spcPct val="0"/>
        </a:spcBef>
        <a:spcAft>
          <a:spcPct val="0"/>
        </a:spcAft>
        <a:defRPr kumimoji="1" sz="3200">
          <a:solidFill>
            <a:schemeClr val="bg2"/>
          </a:solidFill>
          <a:latin typeface="Arial Narrow" pitchFamily="34" charset="0"/>
          <a:ea typeface="Gulim" pitchFamily="50" charset="-127"/>
        </a:defRPr>
      </a:lvl6pPr>
      <a:lvl7pPr marL="914400" algn="ctr" rtl="0" eaLnBrk="1" fontAlgn="ctr" latinLnBrk="1" hangingPunct="1">
        <a:spcBef>
          <a:spcPct val="0"/>
        </a:spcBef>
        <a:spcAft>
          <a:spcPct val="0"/>
        </a:spcAft>
        <a:defRPr kumimoji="1" sz="3200">
          <a:solidFill>
            <a:schemeClr val="bg2"/>
          </a:solidFill>
          <a:latin typeface="Arial Narrow" pitchFamily="34" charset="0"/>
          <a:ea typeface="Gulim" pitchFamily="50" charset="-127"/>
        </a:defRPr>
      </a:lvl7pPr>
      <a:lvl8pPr marL="1371600" algn="ctr" rtl="0" eaLnBrk="1" fontAlgn="ctr" latinLnBrk="1" hangingPunct="1">
        <a:spcBef>
          <a:spcPct val="0"/>
        </a:spcBef>
        <a:spcAft>
          <a:spcPct val="0"/>
        </a:spcAft>
        <a:defRPr kumimoji="1" sz="3200">
          <a:solidFill>
            <a:schemeClr val="bg2"/>
          </a:solidFill>
          <a:latin typeface="Arial Narrow" pitchFamily="34" charset="0"/>
          <a:ea typeface="Gulim" pitchFamily="50" charset="-127"/>
        </a:defRPr>
      </a:lvl8pPr>
      <a:lvl9pPr marL="1828800" algn="ctr" rtl="0" eaLnBrk="1" fontAlgn="ctr" latinLnBrk="1" hangingPunct="1">
        <a:spcBef>
          <a:spcPct val="0"/>
        </a:spcBef>
        <a:spcAft>
          <a:spcPct val="0"/>
        </a:spcAft>
        <a:defRPr kumimoji="1" sz="3200">
          <a:solidFill>
            <a:schemeClr val="bg2"/>
          </a:solidFill>
          <a:latin typeface="Arial Narrow" pitchFamily="34" charset="0"/>
          <a:ea typeface="Gulim" pitchFamily="50" charset="-127"/>
        </a:defRPr>
      </a:lvl9pPr>
    </p:titleStyle>
    <p:bodyStyle>
      <a:lvl1pPr marL="342900" indent="-342900" algn="l" rtl="0" fontAlgn="base" latinLnBrk="1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Blip>
          <a:blip r:embed="rId15"/>
        </a:buBlip>
        <a:defRPr kumimoji="1" sz="28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1pPr>
      <a:lvl2pPr marL="742950" indent="-285750" algn="l" rtl="0" fontAlgn="base" latinLnBrk="1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Blip>
          <a:blip r:embed="rId15"/>
        </a:buBlip>
        <a:defRPr kumimoji="1" sz="24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2pPr>
      <a:lvl3pPr marL="1143000" indent="-228600" algn="l" rtl="0" fontAlgn="base" latinLnBrk="1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Blip>
          <a:blip r:embed="rId15"/>
        </a:buBlip>
        <a:defRPr kumimoji="1" sz="20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3pPr>
      <a:lvl4pPr marL="16002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Blip>
          <a:blip r:embed="rId15"/>
        </a:buBlip>
        <a:defRPr kumimoji="1" sz="20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4pPr>
      <a:lvl5pPr marL="2057400" indent="-228600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Blip>
          <a:blip r:embed="rId15"/>
        </a:buBlip>
        <a:defRPr kumimoji="1" sz="16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Blip>
          <a:blip r:embed="rId15"/>
        </a:buBlip>
        <a:defRPr kumimoji="1" sz="16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Blip>
          <a:blip r:embed="rId15"/>
        </a:buBlip>
        <a:defRPr kumimoji="1" sz="16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Blip>
          <a:blip r:embed="rId15"/>
        </a:buBlip>
        <a:defRPr kumimoji="1" sz="16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Blip>
          <a:blip r:embed="rId15"/>
        </a:buBlip>
        <a:defRPr kumimoji="1" sz="16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>
            <a:extLst>
              <a:ext uri="{FF2B5EF4-FFF2-40B4-BE49-F238E27FC236}">
                <a16:creationId xmlns:a16="http://schemas.microsoft.com/office/drawing/2014/main" id="{BE8BD669-FFDD-3729-72CE-B0CA09DA011E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1" name="Text Placeholder 2">
            <a:extLst>
              <a:ext uri="{FF2B5EF4-FFF2-40B4-BE49-F238E27FC236}">
                <a16:creationId xmlns:a16="http://schemas.microsoft.com/office/drawing/2014/main" id="{3AC32A29-B6D8-73F5-CF47-235613D8C5C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A6AC56-87AD-93CF-1889-1F48B80273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418664AF-FBBA-4B08-AC9F-E9DCA045F434}" type="datetimeFigureOut">
              <a:rPr lang="en-US"/>
              <a:pPr>
                <a:defRPr/>
              </a:pPr>
              <a:t>10/11/2026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726981-63C9-5E95-3192-25175D129F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48C557-E269-7117-3106-2A10DC0CD0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0B976C4D-F325-46F7-9814-A135F1A0651C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F85A4-C0F0-4E28-6EF9-55665A2440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8600"/>
            <a:ext cx="9144000" cy="1828800"/>
          </a:xfrm>
        </p:spPr>
        <p:txBody>
          <a:bodyPr>
            <a:norm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dirty="0" sz="3400">
                <a:solidFill>
                  <a:schemeClr val="accent2">
                    <a:lumMod val="75000"/>
                  </a:schemeClr>
                </a:solidFill>
              </a:rPr>
              <a:t>Document Image Tampering Localization with DWS U-Net: RGB, ELA and DCT Features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123" name="Slide Number Placeholder 4">
            <a:extLst>
              <a:ext uri="{FF2B5EF4-FFF2-40B4-BE49-F238E27FC236}">
                <a16:creationId xmlns:a16="http://schemas.microsoft.com/office/drawing/2014/main" id="{1158436C-E218-5804-7B06-F7D91EF282F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8647113" y="6408738"/>
            <a:ext cx="366712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Blip>
                <a:blip r:embed="rId3"/>
              </a:buBlip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Blip>
                <a:blip r:embed="rId3"/>
              </a:buBlip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Blip>
                <a:blip r:embed="rId3"/>
              </a:buBlip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Blip>
                <a:blip r:embed="rId3"/>
              </a:buBlip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Blip>
                <a:blip r:embed="rId3"/>
              </a:buBlip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defRPr>
            </a:lvl9pPr>
          </a:lstStyle>
          <a:p>
            <a:pPr eaLnBrk="1" latinLnBrk="0" hangingPunct="1">
              <a:spcBef>
                <a:spcPct val="0"/>
              </a:spcBef>
              <a:buClrTx/>
              <a:buSzTx/>
              <a:buFontTx/>
              <a:buNone/>
            </a:pPr>
            <a:fld id="{6E664CC0-5A3F-46A1-8A0D-1114A0A5404B}" type="slidenum">
              <a:rPr kumimoji="0" lang="en-US" altLang="en-US" sz="1800" b="1">
                <a:latin typeface="Arial Narrow" panose="020B06060202020A0204" pitchFamily="34" charset="0"/>
                <a:cs typeface="Arial" panose="020B0604020202020204" pitchFamily="34" charset="0"/>
              </a:rPr>
              <a:pPr eaLnBrk="1" latinLnBrk="0" hangingPunct="1"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kumimoji="0" lang="en-US" altLang="en-US" sz="1800" b="1">
              <a:latin typeface="Arial Narrow" panose="020B06060202020A0204" pitchFamily="34" charset="0"/>
              <a:cs typeface="Arial" panose="020B0604020202020204" pitchFamily="34" charset="0"/>
            </a:endParaRPr>
          </a:p>
        </p:txBody>
      </p:sp>
      <p:sp>
        <p:nvSpPr>
          <p:cNvPr id="5124" name="TextBox 2">
            <a:extLst>
              <a:ext uri="{FF2B5EF4-FFF2-40B4-BE49-F238E27FC236}">
                <a16:creationId xmlns:a16="http://schemas.microsoft.com/office/drawing/2014/main" id="{23052C25-C057-2DE1-D86D-20844C4CC5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914775"/>
            <a:ext cx="281940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Blip>
                <a:blip r:embed="rId3"/>
              </a:buBlip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Blip>
                <a:blip r:embed="rId3"/>
              </a:buBlip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Blip>
                <a:blip r:embed="rId3"/>
              </a:buBlip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Blip>
                <a:blip r:embed="rId3"/>
              </a:buBlip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Blip>
                <a:blip r:embed="rId3"/>
              </a:buBlip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defRPr>
            </a:lvl9pPr>
          </a:lstStyle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000" b="1" dirty="0"/>
              <a:t>Submitted By</a:t>
            </a: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800" b="1" dirty="0"/>
              <a:t>Md Piash Islam</a:t>
            </a: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800" b="1" dirty="0"/>
              <a:t>ID:2104051</a:t>
            </a:r>
          </a:p>
        </p:txBody>
      </p:sp>
      <p:sp>
        <p:nvSpPr>
          <p:cNvPr id="5125" name="TextBox 3">
            <a:extLst>
              <a:ext uri="{FF2B5EF4-FFF2-40B4-BE49-F238E27FC236}">
                <a16:creationId xmlns:a16="http://schemas.microsoft.com/office/drawing/2014/main" id="{1CC02121-9E11-7EF7-6C87-BCE6EE1D86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0" y="3776663"/>
            <a:ext cx="3200400" cy="1230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Blip>
                <a:blip r:embed="rId3"/>
              </a:buBlip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Blip>
                <a:blip r:embed="rId3"/>
              </a:buBlip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Blip>
                <a:blip r:embed="rId3"/>
              </a:buBlip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Blip>
                <a:blip r:embed="rId3"/>
              </a:buBlip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Blip>
                <a:blip r:embed="rId3"/>
              </a:buBlip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defRPr>
            </a:lvl9pPr>
          </a:lstStyle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000" b="1" dirty="0"/>
              <a:t>Submitted to</a:t>
            </a: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800" b="1" dirty="0"/>
              <a:t>Dr. Kaushik Deb</a:t>
            </a: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800" b="1" dirty="0"/>
              <a:t>Professor</a:t>
            </a: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800" b="1" dirty="0"/>
              <a:t>Department of CSE, CUET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800"/>
              <a:t>Motivation and Dataset</a:t>
            </a:r>
          </a:p>
          <a:p>
            <a:pPr/>
            <a:r>
              <a:rPr sz="2800"/>
              <a:t>Error Level Analysis (ELA)</a:t>
            </a:r>
          </a:p>
          <a:p>
            <a:pPr/>
            <a:r>
              <a:rPr sz="2800"/>
              <a:t>Discrete Cosine Transform (DCT)</a:t>
            </a:r>
          </a:p>
          <a:p>
            <a:pPr/>
            <a:r>
              <a:rPr sz="2800"/>
              <a:t>DWS U-Net Experiments</a:t>
            </a:r>
          </a:p>
          <a:p>
            <a:pPr/>
            <a:r>
              <a:rPr sz="2800"/>
              <a:t>Experiment 1: RGB512</a:t>
            </a:r>
          </a:p>
          <a:p>
            <a:pPr/>
            <a:r>
              <a:rPr sz="2800"/>
              <a:t>Experiment 2: RGB + ELA 512</a:t>
            </a:r>
          </a:p>
          <a:p>
            <a:pPr/>
            <a:r>
              <a:rPr sz="2800"/>
              <a:t>Experiment 3: RGB + DCT 512</a:t>
            </a:r>
          </a:p>
          <a:p>
            <a:pPr/>
            <a:r>
              <a:rPr sz="2800"/>
              <a:t>Comparison and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600"/>
              <a:t>Documents such as </a:t>
            </a:r>
            <a:r>
              <a:rPr sz="2600" b="1"/>
              <a:t>IDs, certificates, receipts and invoices</a:t>
            </a:r>
            <a:r>
              <a:rPr sz="2600"/>
              <a:t> are easy to edit with common software</a:t>
            </a:r>
          </a:p>
          <a:p>
            <a:pPr/>
            <a:r>
              <a:rPr sz="2600"/>
              <a:t>Typical tampering: </a:t>
            </a:r>
            <a:r>
              <a:rPr sz="2600" b="1"/>
              <a:t>text or number replacement, copy-move, splicing and inpainting</a:t>
            </a:r>
          </a:p>
          <a:p>
            <a:pPr/>
            <a:r>
              <a:rPr sz="2600"/>
              <a:t>Edits are often </a:t>
            </a:r>
            <a:r>
              <a:rPr sz="2600" b="1"/>
              <a:t>visually seamless</a:t>
            </a:r>
            <a:r>
              <a:rPr sz="2600"/>
              <a:t>, so they are hard to spot by eye</a:t>
            </a:r>
          </a:p>
          <a:p>
            <a:pPr/>
            <a:r>
              <a:rPr sz="2600"/>
              <a:t>Detecting a forgery is not enough: we need to </a:t>
            </a:r>
            <a:r>
              <a:rPr sz="2600" b="1"/>
              <a:t>localize the tampered pixels</a:t>
            </a:r>
          </a:p>
          <a:p>
            <a:pPr/>
            <a:r>
              <a:rPr sz="2600"/>
              <a:t>Applications: </a:t>
            </a:r>
            <a:r>
              <a:rPr sz="2600" b="1"/>
              <a:t>document verification, digital forensics and fraud prevention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 (Contd..)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 b="1"/>
              <a:t>Challenges</a:t>
            </a:r>
            <a:r>
              <a:rPr sz="2400"/>
              <a:t> of tampering localization</a:t>
            </a:r>
          </a:p>
          <a:p>
            <a:pPr lvl="1"/>
            <a:r>
              <a:rPr sz="2200"/>
              <a:t>Tampered regions are </a:t>
            </a:r>
            <a:r>
              <a:rPr sz="2200" b="1"/>
              <a:t>tiny</a:t>
            </a:r>
            <a:r>
              <a:rPr sz="2200"/>
              <a:t>: most pixels are untampered</a:t>
            </a:r>
          </a:p>
          <a:p>
            <a:pPr lvl="1"/>
            <a:r>
              <a:rPr sz="2200"/>
              <a:t>RGB-only baseline: </a:t>
            </a:r>
            <a:r>
              <a:rPr sz="2200" b="1"/>
              <a:t>97.1% accuracy</a:t>
            </a:r>
            <a:r>
              <a:rPr sz="2200"/>
              <a:t> but only </a:t>
            </a:r>
            <a:r>
              <a:rPr sz="2200" b="1"/>
              <a:t>0.194 Dice</a:t>
            </a:r>
            <a:r>
              <a:rPr sz="2200"/>
              <a:t>, so accuracy is misleading</a:t>
            </a:r>
          </a:p>
          <a:p>
            <a:pPr lvl="1"/>
            <a:r>
              <a:rPr sz="2200"/>
              <a:t>Resizing (e.g. 512 → 256) can </a:t>
            </a:r>
            <a:r>
              <a:rPr sz="2200" b="1"/>
              <a:t>weaken fine forensic traces</a:t>
            </a:r>
          </a:p>
          <a:p>
            <a:pPr lvl="1"/>
            <a:r>
              <a:rPr sz="2200"/>
              <a:t>The model must stay </a:t>
            </a:r>
            <a:r>
              <a:rPr sz="2200" b="1"/>
              <a:t>lightweight</a:t>
            </a:r>
            <a:r>
              <a:rPr sz="2200"/>
              <a:t> (below 2.5M parameters)</a:t>
            </a:r>
          </a:p>
          <a:p>
            <a:pPr/>
            <a:r>
              <a:rPr sz="2400" b="1"/>
              <a:t>Idea:</a:t>
            </a:r>
            <a:r>
              <a:rPr sz="2400"/>
              <a:t> add forensic features that expose </a:t>
            </a:r>
            <a:r>
              <a:rPr sz="2400" b="1"/>
              <a:t>compression traces</a:t>
            </a:r>
            <a:r>
              <a:rPr sz="2400"/>
              <a:t>: </a:t>
            </a:r>
            <a:r>
              <a:rPr sz="2400" b="1"/>
              <a:t>ELA</a:t>
            </a:r>
            <a:r>
              <a:rPr sz="2400"/>
              <a:t> and </a:t>
            </a:r>
            <a:r>
              <a:rPr sz="2400" b="1"/>
              <a:t>DCT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and Task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600" b="1"/>
              <a:t>Dataset:</a:t>
            </a:r>
            <a:r>
              <a:rPr sz="2600"/>
              <a:t> DocTamperV1-TrainingSet</a:t>
            </a:r>
          </a:p>
          <a:p>
            <a:pPr/>
            <a:r>
              <a:rPr sz="2600" b="1"/>
              <a:t>Subset:</a:t>
            </a:r>
            <a:r>
              <a:rPr sz="2600"/>
              <a:t> fixed 25K images, never re-split</a:t>
            </a:r>
          </a:p>
          <a:p>
            <a:pPr lvl="1"/>
            <a:r>
              <a:rPr sz="2400"/>
              <a:t>18,750 train / 2,500 validation / 3,750 test</a:t>
            </a:r>
          </a:p>
          <a:p>
            <a:pPr/>
            <a:r>
              <a:rPr sz="2600" b="1"/>
              <a:t>Data:</a:t>
            </a:r>
            <a:r>
              <a:rPr sz="2600"/>
              <a:t> 512 × 512 images stored as JPEG; PNG ground-truth masks (non-zero = tampered)</a:t>
            </a:r>
          </a:p>
          <a:p>
            <a:pPr/>
            <a:r>
              <a:rPr sz="2600" b="1"/>
              <a:t>Task:</a:t>
            </a:r>
            <a:r>
              <a:rPr sz="2600"/>
              <a:t> binary pixel-wise segmentation of tampered regions</a:t>
            </a:r>
          </a:p>
          <a:p>
            <a:pPr/>
            <a:r>
              <a:rPr sz="2600" b="1"/>
              <a:t>Metrics:</a:t>
            </a:r>
            <a:r>
              <a:rPr sz="2600"/>
              <a:t> Dice, IoU, Precision, Recall, F1, Accuracy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Overall Approach</a:t>
            </a:r>
          </a:p>
        </p:txBody>
      </p:sp>
      <p:pic>
        <p:nvPicPr>
          <p:cNvPr id="3" name="Picture 2" descr="fig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19" y="1403351"/>
            <a:ext cx="8595360" cy="432561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Error Level Analysis (ELA)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600" b="1"/>
              <a:t>What is ELA?</a:t>
            </a:r>
            <a:r>
              <a:rPr sz="2600"/>
              <a:t> Compares an image with its own </a:t>
            </a:r>
            <a:r>
              <a:rPr sz="2600" b="1"/>
              <a:t>JPEG re-compressed copy</a:t>
            </a:r>
          </a:p>
          <a:p>
            <a:pPr/>
            <a:r>
              <a:rPr sz="2600"/>
              <a:t>JPEG is </a:t>
            </a:r>
            <a:r>
              <a:rPr sz="2600" b="1"/>
              <a:t>lossy</a:t>
            </a:r>
            <a:r>
              <a:rPr sz="2600"/>
              <a:t>: re-saving changes every region by a small amount</a:t>
            </a:r>
          </a:p>
          <a:p>
            <a:pPr/>
            <a:r>
              <a:rPr sz="2600"/>
              <a:t>Regions with the </a:t>
            </a:r>
            <a:r>
              <a:rPr sz="2600" b="1"/>
              <a:t>same compression history</a:t>
            </a:r>
            <a:r>
              <a:rPr sz="2600"/>
              <a:t> change similarly; </a:t>
            </a:r>
            <a:r>
              <a:rPr sz="2600" b="1"/>
              <a:t>edited or pasted regions</a:t>
            </a:r>
            <a:r>
              <a:rPr sz="2600"/>
              <a:t> respond differently</a:t>
            </a:r>
          </a:p>
          <a:p>
            <a:pPr/>
            <a:r>
              <a:rPr sz="2600"/>
              <a:t>The </a:t>
            </a:r>
            <a:r>
              <a:rPr sz="2600" b="1"/>
              <a:t>ELA map</a:t>
            </a:r>
            <a:r>
              <a:rPr sz="2600"/>
              <a:t> highlights these inconsistent error levels</a:t>
            </a:r>
          </a:p>
          <a:p>
            <a:pPr/>
            <a:r>
              <a:rPr sz="2600"/>
              <a:t>Here ELA is used as an </a:t>
            </a:r>
            <a:r>
              <a:rPr sz="2600" b="1"/>
              <a:t>extra pixel-aligned input channel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ELA (Contd..): Working Principle</a:t>
            </a:r>
          </a:p>
        </p:txBody>
      </p:sp>
      <p:pic>
        <p:nvPicPr>
          <p:cNvPr id="3" name="Picture 2" descr="fig_e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19" y="1982405"/>
            <a:ext cx="8595360" cy="298462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ELA (Contd..): How It Is Applied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100" b="1"/>
              <a:t>1.</a:t>
            </a:r>
            <a:r>
              <a:rPr sz="2100"/>
              <a:t> Take the native 512 × 512 RGB image (</a:t>
            </a:r>
            <a:r>
              <a:rPr sz="2100" b="1"/>
              <a:t>no resizing</a:t>
            </a:r>
            <a:r>
              <a:rPr sz="2100"/>
              <a:t> before ELA)</a:t>
            </a:r>
          </a:p>
          <a:p>
            <a:pPr/>
            <a:r>
              <a:rPr sz="2100" b="1"/>
              <a:t>2.</a:t>
            </a:r>
            <a:r>
              <a:rPr sz="2100"/>
              <a:t> Re-save as JPEG at </a:t>
            </a:r>
            <a:r>
              <a:rPr sz="2100" b="1"/>
              <a:t>quality 90</a:t>
            </a:r>
            <a:r>
              <a:rPr sz="2100"/>
              <a:t> and reload it</a:t>
            </a:r>
          </a:p>
          <a:p>
            <a:pPr/>
            <a:r>
              <a:rPr sz="2100" b="1"/>
              <a:t>3.</a:t>
            </a:r>
            <a:r>
              <a:rPr sz="2100"/>
              <a:t> Mean absolute difference over R, G, B; </a:t>
            </a:r>
            <a:r>
              <a:rPr sz="2100" b="1"/>
              <a:t>× 15</a:t>
            </a:r>
            <a:r>
              <a:rPr sz="2100"/>
              <a:t>, clip to [0, 255], ÷ 255 → </a:t>
            </a:r>
            <a:r>
              <a:rPr sz="2100" b="1"/>
              <a:t>1 channel</a:t>
            </a:r>
          </a:p>
          <a:p>
            <a:pPr/>
            <a:r>
              <a:rPr sz="2100" b="1"/>
              <a:t>4.</a:t>
            </a:r>
            <a:r>
              <a:rPr sz="2100"/>
              <a:t> Stack with RGB → model input </a:t>
            </a:r>
            <a:r>
              <a:rPr sz="2100" b="1"/>
              <a:t>4 × 512 × 512</a:t>
            </a:r>
          </a:p>
          <a:p>
            <a:pPr/>
            <a:r>
              <a:rPr sz="2100" b="1"/>
              <a:t>5.</a:t>
            </a:r>
            <a:r>
              <a:rPr sz="2100"/>
              <a:t> Only the first convolution changes (3 → 4 channels): </a:t>
            </a:r>
            <a:r>
              <a:rPr sz="2100" b="1"/>
              <a:t>+75 parameters</a:t>
            </a:r>
            <a:r>
              <a:rPr sz="2100"/>
              <a:t> (2,162,658 → 2,162,733)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of ELA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600" b="1"/>
              <a:t>Simple and fast</a:t>
            </a:r>
            <a:r>
              <a:rPr sz="2600"/>
              <a:t> — computed on the fly, no training needed</a:t>
            </a:r>
          </a:p>
          <a:p>
            <a:pPr/>
            <a:r>
              <a:rPr sz="2600" b="1"/>
              <a:t>Pixel-aligned</a:t>
            </a:r>
            <a:r>
              <a:rPr sz="2600"/>
              <a:t> with RGB — concatenates directly as a channel</a:t>
            </a:r>
          </a:p>
          <a:p>
            <a:pPr/>
            <a:r>
              <a:rPr sz="2600"/>
              <a:t>Reveals </a:t>
            </a:r>
            <a:r>
              <a:rPr sz="2600" b="1"/>
              <a:t>compression inconsistencies</a:t>
            </a:r>
            <a:r>
              <a:rPr sz="2600"/>
              <a:t> invisible in RGB</a:t>
            </a:r>
          </a:p>
          <a:p>
            <a:pPr/>
            <a:r>
              <a:rPr sz="2600" b="1"/>
              <a:t>Almost free</a:t>
            </a:r>
            <a:r>
              <a:rPr sz="2600"/>
              <a:t> — only 75 extra parameters</a:t>
            </a:r>
          </a:p>
          <a:p>
            <a:pPr/>
            <a:r>
              <a:rPr sz="2600"/>
              <a:t>Keeps the </a:t>
            </a:r>
            <a:r>
              <a:rPr sz="2600" b="1"/>
              <a:t>full 512 × 512 resolution</a:t>
            </a:r>
          </a:p>
          <a:p>
            <a:pPr/>
            <a:r>
              <a:rPr sz="2600" b="1"/>
              <a:t>Caution:</a:t>
            </a:r>
            <a:r>
              <a:rPr sz="2600"/>
              <a:t> depends on the chosen quality and the image's JPEG history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Discrete Cosine Transform (DCT)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JPEG splits the image into </a:t>
            </a:r>
            <a:r>
              <a:rPr sz="2400" b="1"/>
              <a:t>8 × 8 blocks</a:t>
            </a:r>
            <a:r>
              <a:rPr sz="2400"/>
              <a:t> and applies the DCT</a:t>
            </a:r>
          </a:p>
          <a:p>
            <a:pPr/>
            <a:r>
              <a:rPr sz="2400"/>
              <a:t>Each block gives </a:t>
            </a:r>
            <a:r>
              <a:rPr sz="2400" b="1"/>
              <a:t>64 coefficients</a:t>
            </a:r>
            <a:r>
              <a:rPr sz="2400"/>
              <a:t>: 1 </a:t>
            </a:r>
            <a:r>
              <a:rPr sz="2400" b="1"/>
              <a:t>DC</a:t>
            </a:r>
            <a:r>
              <a:rPr sz="2400"/>
              <a:t> (block mean) + 63 </a:t>
            </a:r>
            <a:r>
              <a:rPr sz="2400" b="1"/>
              <a:t>AC</a:t>
            </a:r>
            <a:r>
              <a:rPr sz="2400"/>
              <a:t> (frequency detail)</a:t>
            </a:r>
          </a:p>
          <a:p>
            <a:pPr/>
            <a:r>
              <a:rPr sz="2400"/>
              <a:t>Coefficients are </a:t>
            </a:r>
            <a:r>
              <a:rPr sz="2400" b="1"/>
              <a:t>quantized</a:t>
            </a:r>
            <a:r>
              <a:rPr sz="2400"/>
              <a:t>, then entropy coded into the file</a:t>
            </a:r>
          </a:p>
          <a:p>
            <a:pPr/>
            <a:r>
              <a:rPr sz="2400"/>
              <a:t>Editing and re-saving leaves </a:t>
            </a:r>
            <a:r>
              <a:rPr sz="2400" b="1"/>
              <a:t>traces in the quantized coefficients</a:t>
            </a:r>
            <a:r>
              <a:rPr sz="2400"/>
              <a:t> (e.g. double compression)</a:t>
            </a:r>
          </a:p>
          <a:p>
            <a:pPr/>
            <a:r>
              <a:rPr sz="2400"/>
              <a:t>We read the coefficients </a:t>
            </a:r>
            <a:r>
              <a:rPr sz="2400" b="1"/>
              <a:t>directly from the stored JPEG</a:t>
            </a:r>
            <a:r>
              <a:rPr sz="2400"/>
              <a:t>: no decoding, no re-compression error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DCT (Contd..): Coefficient Block</a:t>
            </a:r>
          </a:p>
        </p:txBody>
      </p:sp>
      <p:pic>
        <p:nvPicPr>
          <p:cNvPr id="3" name="Picture 2" descr="fig_dct_bl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37262"/>
            <a:ext cx="4023360" cy="485779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480560" y="118872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latin typeface="Times New Roman"/>
              </a:rPr>
              <a:t>DC:</a:t>
            </a:r>
            <a:r>
              <a:rPr sz="2000">
                <a:latin typeface="Times New Roman"/>
              </a:rPr>
              <a:t> average intensity of the block</a:t>
            </a:r>
          </a:p>
          <a:p>
            <a:pPr>
              <a:spcAft>
                <a:spcPts val="800"/>
              </a:spcAft>
            </a:pPr>
            <a:r>
              <a:rPr sz="2000" b="1">
                <a:latin typeface="Times New Roman"/>
              </a:rPr>
              <a:t>Low frequencies:</a:t>
            </a:r>
            <a:r>
              <a:rPr sz="2000">
                <a:latin typeface="Times New Roman"/>
              </a:rPr>
              <a:t> coarse structure</a:t>
            </a:r>
          </a:p>
          <a:p>
            <a:pPr>
              <a:spcAft>
                <a:spcPts val="800"/>
              </a:spcAft>
            </a:pPr>
            <a:r>
              <a:rPr sz="2000" b="1">
                <a:latin typeface="Times New Roman"/>
              </a:rPr>
              <a:t>High frequencies:</a:t>
            </a:r>
            <a:r>
              <a:rPr sz="2000">
                <a:latin typeface="Times New Roman"/>
              </a:rPr>
              <a:t> fine detail and noise</a:t>
            </a:r>
          </a:p>
          <a:p>
            <a:pPr>
              <a:spcAft>
                <a:spcPts val="800"/>
              </a:spcAft>
            </a:pPr>
            <a:r>
              <a:rPr sz="2000" b="1">
                <a:latin typeface="Times New Roman"/>
              </a:rPr>
              <a:t>AC coefficients</a:t>
            </a:r>
            <a:r>
              <a:rPr sz="2000">
                <a:latin typeface="Times New Roman"/>
              </a:rPr>
              <a:t> carry the forgery traces, so each of the 64 coefficient channels is </a:t>
            </a:r>
            <a:r>
              <a:rPr sz="2000" b="1">
                <a:latin typeface="Times New Roman"/>
              </a:rPr>
              <a:t>standardised separately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DCT (Contd..): Working Principle</a:t>
            </a:r>
          </a:p>
        </p:txBody>
      </p:sp>
      <p:pic>
        <p:nvPicPr>
          <p:cNvPr id="3" name="Picture 2" descr="fig_dct_pi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19" y="1982405"/>
            <a:ext cx="8595360" cy="298462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DCT (Contd..): How It Is Applied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Y-channel quantized coefficients → </a:t>
            </a:r>
            <a:r>
              <a:rPr sz="2000" b="1"/>
              <a:t>64 × 64 grid of 8 × 8 blocks</a:t>
            </a:r>
            <a:r>
              <a:rPr sz="2000"/>
              <a:t> → tensor </a:t>
            </a:r>
            <a:r>
              <a:rPr sz="2000" b="1"/>
              <a:t>64 × 64 × 64</a:t>
            </a:r>
          </a:p>
          <a:p>
            <a:pPr/>
            <a:r>
              <a:rPr sz="2000"/>
              <a:t>One block covers 8 × 8 pixels, so the grid is at </a:t>
            </a:r>
            <a:r>
              <a:rPr sz="2000" b="1"/>
              <a:t>1/8 resolution</a:t>
            </a:r>
            <a:r>
              <a:rPr sz="2000"/>
              <a:t>, not pixel-aligned</a:t>
            </a:r>
          </a:p>
          <a:p>
            <a:pPr/>
            <a:r>
              <a:rPr sz="2000"/>
              <a:t>Processed by a separate </a:t>
            </a:r>
            <a:r>
              <a:rPr sz="2000" b="1"/>
              <a:t>DCT stem</a:t>
            </a:r>
            <a:r>
              <a:rPr sz="2000"/>
              <a:t>: 1×1 Conv 64 → 128, BatchNorm, ReLU, DWSConv 128</a:t>
            </a:r>
          </a:p>
          <a:p>
            <a:pPr/>
            <a:r>
              <a:rPr sz="2000" b="1"/>
              <a:t>Fusion:</a:t>
            </a:r>
            <a:r>
              <a:rPr sz="2000"/>
              <a:t> concatenated with pooled Enc 3 features (256 + 128 = </a:t>
            </a:r>
            <a:r>
              <a:rPr sz="2000" b="1"/>
              <a:t>384 channels</a:t>
            </a:r>
            <a:r>
              <a:rPr sz="2000"/>
              <a:t>) before Enc 4</a:t>
            </a:r>
          </a:p>
          <a:p>
            <a:pPr/>
            <a:r>
              <a:rPr sz="2000"/>
              <a:t>Parameters: </a:t>
            </a:r>
            <a:r>
              <a:rPr sz="2000" b="1"/>
              <a:t>2,256,098</a:t>
            </a:r>
            <a:r>
              <a:rPr sz="2000"/>
              <a:t> (+93,440 over RGB512)</a:t>
            </a:r>
          </a:p>
          <a:p>
            <a:pPr/>
            <a:r>
              <a:rPr sz="2000"/>
              <a:t>Non-JPEG samples fall back to a </a:t>
            </a:r>
            <a:r>
              <a:rPr sz="2000" b="1"/>
              <a:t>Q90 re-encode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of DCT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600"/>
              <a:t>Works in the </a:t>
            </a:r>
            <a:r>
              <a:rPr sz="2600" b="1"/>
              <a:t>compression domain</a:t>
            </a:r>
            <a:r>
              <a:rPr sz="2600"/>
              <a:t>: sees traces that pixel features can miss</a:t>
            </a:r>
          </a:p>
          <a:p>
            <a:pPr/>
            <a:r>
              <a:rPr sz="2600"/>
              <a:t>Uses the </a:t>
            </a:r>
            <a:r>
              <a:rPr sz="2600" b="1"/>
              <a:t>original stored coefficients</a:t>
            </a:r>
            <a:r>
              <a:rPr sz="2600"/>
              <a:t>: no re-compression error</a:t>
            </a:r>
          </a:p>
          <a:p>
            <a:pPr/>
            <a:r>
              <a:rPr sz="2600" b="1"/>
              <a:t>Compact:</a:t>
            </a:r>
            <a:r>
              <a:rPr sz="2600"/>
              <a:t> 64 × 64 × 64 at 1/8 resolution is cheap to process</a:t>
            </a:r>
          </a:p>
          <a:p>
            <a:pPr/>
            <a:r>
              <a:rPr sz="2600" b="1"/>
              <a:t>Frequency-separated:</a:t>
            </a:r>
            <a:r>
              <a:rPr sz="2600"/>
              <a:t> the network can weight each coefficient channel</a:t>
            </a:r>
          </a:p>
          <a:p>
            <a:pPr/>
            <a:r>
              <a:rPr sz="2600" b="1"/>
              <a:t>Complements</a:t>
            </a:r>
            <a:r>
              <a:rPr sz="2600"/>
              <a:t> RGB (appearance) and ELA (error level)</a:t>
            </a:r>
          </a:p>
          <a:p>
            <a:pPr/>
            <a:r>
              <a:rPr sz="2600" b="1"/>
              <a:t>Caution:</a:t>
            </a:r>
            <a:r>
              <a:rPr sz="2600"/>
              <a:t> needs a JPEG source; non-JPEG images use a fallback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DWS U-Net Experiments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143000"/>
          <a:ext cx="8595360" cy="27432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554480"/>
                <a:gridCol w="2834640"/>
                <a:gridCol w="2468880"/>
                <a:gridCol w="1737360"/>
              </a:tblGrid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</a:rPr>
                        <a:t>Experiment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</a:rPr>
                        <a:t>Input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</a:rPr>
                        <a:t>Extra branch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</a:rPr>
                        <a:t>Parameters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</a:rPr>
                        <a:t>RGB512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RGB 3 × 512 × 512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None (baseline)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2,162,658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</a:rPr>
                        <a:t>RGB + ELA 512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RGB + ELA 4 × 512 × 512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ELA as 4th channel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2,162,733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</a:rPr>
                        <a:t>RGB + DCT 512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RGB 3 × 512 × 512 + DCT 64 × 64 × 64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DCT stem fused at 1/8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2,256,098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74320" y="4297680"/>
            <a:ext cx="8595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latin typeface="Times New Roman"/>
              </a:rPr>
              <a:t>Same backbone, </a:t>
            </a:r>
            <a:r>
              <a:rPr sz="1800" b="1">
                <a:latin typeface="Times New Roman"/>
              </a:rPr>
              <a:t>same 25K split</a:t>
            </a:r>
            <a:r>
              <a:rPr sz="1800">
                <a:latin typeface="Times New Roman"/>
              </a:rPr>
              <a:t>, same loss, optimizer and batch size</a:t>
            </a:r>
          </a:p>
          <a:p>
            <a:pPr/>
            <a:r>
              <a:rPr sz="1800">
                <a:latin typeface="Times New Roman"/>
              </a:rPr>
              <a:t>Only the </a:t>
            </a:r>
            <a:r>
              <a:rPr sz="1800" b="1">
                <a:latin typeface="Times New Roman"/>
              </a:rPr>
              <a:t>input features</a:t>
            </a:r>
            <a:r>
              <a:rPr sz="1800">
                <a:latin typeface="Times New Roman"/>
              </a:rPr>
              <a:t> differ, so differences in results come from the features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DWS U-Net Backbone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 b="1"/>
              <a:t>Encoder:</a:t>
            </a:r>
            <a:r>
              <a:rPr sz="2400"/>
              <a:t> 64 → 128 → 256 → 512, two </a:t>
            </a:r>
            <a:r>
              <a:rPr sz="2400" b="1"/>
              <a:t>DWSConv</a:t>
            </a:r>
            <a:r>
              <a:rPr sz="2400"/>
              <a:t> blocks per stage, 2×2 MaxPool</a:t>
            </a:r>
          </a:p>
          <a:p>
            <a:pPr/>
            <a:r>
              <a:rPr sz="2400" b="1"/>
              <a:t>Bottleneck:</a:t>
            </a:r>
            <a:r>
              <a:rPr sz="2400"/>
              <a:t> 512 channels, two DWSConv blocks (32 × 32)</a:t>
            </a:r>
          </a:p>
          <a:p>
            <a:pPr/>
            <a:r>
              <a:rPr sz="2400" b="1"/>
              <a:t>Decoder:</a:t>
            </a:r>
            <a:r>
              <a:rPr sz="2400"/>
              <a:t> ConvTranspose2d upsampling with </a:t>
            </a:r>
            <a:r>
              <a:rPr sz="2400" b="1"/>
              <a:t>concatenation skips</a:t>
            </a:r>
          </a:p>
          <a:p>
            <a:pPr/>
            <a:r>
              <a:rPr sz="2400" b="1"/>
              <a:t>DWSConv:</a:t>
            </a:r>
            <a:r>
              <a:rPr sz="2400"/>
              <a:t> depthwise 3×3 → BN → ReLU → pointwise 1×1 → BN → ReLU</a:t>
            </a:r>
          </a:p>
          <a:p>
            <a:pPr/>
            <a:r>
              <a:rPr sz="2400" b="1"/>
              <a:t>Output:</a:t>
            </a:r>
            <a:r>
              <a:rPr sz="2400"/>
              <a:t> 1 × 512 × 512 raw logits (no sigmoid inside the model)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Shared Training Pipeline Configuration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1097280"/>
          <a:ext cx="4343400" cy="45720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508760"/>
                <a:gridCol w="283464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Component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Configuration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Dataset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DocTamperV1-TrainingSet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Subset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Fixed 25K images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Split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18,750 / 2,500 / 3,750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Augmentation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None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Loss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BCE + Dice (1.0 / 1.0)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Optimizer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AdamW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Learning rate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1 × 10⁻⁴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Weight decay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1 × 10⁻⁴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Batch size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8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617720" y="1097280"/>
          <a:ext cx="4343400" cy="45720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508760"/>
                <a:gridCol w="283464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Component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Configuration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Scheduler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ReduceLROnPlateau (val Dice, ×0.5, patience 4)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Grad. clipping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Max norm 1.0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EMA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Decay 0.999 (used for validation)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Epochs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30 per run (cap 300)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AMP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Enabled on CUDA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Seed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42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Threshold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0.5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Model selection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Best validation Dice (top-5 kept)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Input / params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See each experiment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 1: RGB512: Architecture</a:t>
            </a:r>
          </a:p>
        </p:txBody>
      </p:sp>
      <p:pic>
        <p:nvPicPr>
          <p:cNvPr id="3" name="Picture 2" descr="sl_rgb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7372" y="960120"/>
            <a:ext cx="590925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 1: RGB512: Preprocessing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6576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600" b="1">
                <a:latin typeface="Times New Roman"/>
              </a:rPr>
              <a:t>Image branch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81328"/>
            <a:ext cx="3657600" cy="566928"/>
          </a:xfrm>
          <a:prstGeom prst="roundRect">
            <a:avLst/>
          </a:prstGeom>
          <a:solidFill>
            <a:srgbClr val="E4EEFB"/>
          </a:solidFill>
          <a:ln w="15875">
            <a:solidFill>
              <a:srgbClr val="2F6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>
                <a:solidFill>
                  <a:srgbClr val="000000"/>
                </a:solidFill>
                <a:latin typeface="Times New Roman"/>
              </a:rPr>
              <a:t>Original DocTamper image</a:t>
            </a:r>
          </a:p>
          <a:p>
            <a:pPr algn="ctr"/>
            <a:r>
              <a:rPr sz="1200">
                <a:solidFill>
                  <a:srgbClr val="000000"/>
                </a:solidFill>
                <a:latin typeface="Times New Roman"/>
              </a:rPr>
              <a:t>(stored JPEG, 512 × 512)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20824"/>
            <a:ext cx="3657600" cy="237744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200" b="1">
                <a:latin typeface="Times New Roman"/>
              </a:rPr>
              <a:t>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249424"/>
            <a:ext cx="3657600" cy="457200"/>
          </a:xfrm>
          <a:prstGeom prst="roundRect">
            <a:avLst/>
          </a:prstGeom>
          <a:solidFill>
            <a:srgbClr val="E4EEFB"/>
          </a:solidFill>
          <a:ln w="15875">
            <a:solidFill>
              <a:srgbClr val="2F6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>
                <a:solidFill>
                  <a:srgbClr val="000000"/>
                </a:solidFill>
                <a:latin typeface="Times New Roman"/>
              </a:rPr>
              <a:t>RGB conversion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79192"/>
            <a:ext cx="3657600" cy="237744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200" b="1">
                <a:latin typeface="Times New Roman"/>
              </a:rPr>
              <a:t>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07792"/>
            <a:ext cx="3657600" cy="566928"/>
          </a:xfrm>
          <a:prstGeom prst="roundRect">
            <a:avLst/>
          </a:prstGeom>
          <a:solidFill>
            <a:srgbClr val="E4EEFB"/>
          </a:solidFill>
          <a:ln w="15875">
            <a:solidFill>
              <a:srgbClr val="2F6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>
                <a:solidFill>
                  <a:srgbClr val="000000"/>
                </a:solidFill>
                <a:latin typeface="Times New Roman"/>
              </a:rPr>
              <a:t>Pixel normalization</a:t>
            </a:r>
          </a:p>
          <a:p>
            <a:pPr algn="ctr"/>
            <a:r>
              <a:rPr sz="1200">
                <a:solidFill>
                  <a:srgbClr val="000000"/>
                </a:solidFill>
                <a:latin typeface="Times New Roman"/>
              </a:rPr>
              <a:t>[0,255] → [0,1]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47288"/>
            <a:ext cx="3657600" cy="237744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200" b="1">
                <a:latin typeface="Times New Roman"/>
              </a:rPr>
              <a:t>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675888"/>
            <a:ext cx="3657600" cy="566928"/>
          </a:xfrm>
          <a:prstGeom prst="roundRect">
            <a:avLst/>
          </a:prstGeom>
          <a:solidFill>
            <a:srgbClr val="E4EEFB"/>
          </a:solidFill>
          <a:ln w="15875">
            <a:solidFill>
              <a:srgbClr val="2F6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>
                <a:solidFill>
                  <a:srgbClr val="000000"/>
                </a:solidFill>
                <a:latin typeface="Times New Roman"/>
              </a:rPr>
              <a:t>DWS U-Net</a:t>
            </a:r>
          </a:p>
          <a:p>
            <a:pPr algn="ctr"/>
            <a:r>
              <a:rPr sz="1200">
                <a:solidFill>
                  <a:srgbClr val="000000"/>
                </a:solidFill>
                <a:latin typeface="Times New Roman"/>
              </a:rPr>
              <a:t>(3 × 512 × 512)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097280"/>
            <a:ext cx="393192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600" b="1">
                <a:latin typeface="Times New Roman"/>
              </a:rPr>
              <a:t>Ground-truth mask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1481328"/>
            <a:ext cx="3931920" cy="566928"/>
          </a:xfrm>
          <a:prstGeom prst="roundRect">
            <a:avLst/>
          </a:prstGeom>
          <a:solidFill>
            <a:srgbClr val="E4EEFB"/>
          </a:solidFill>
          <a:ln w="15875">
            <a:solidFill>
              <a:srgbClr val="2F6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>
                <a:solidFill>
                  <a:srgbClr val="000000"/>
                </a:solidFill>
                <a:latin typeface="Times New Roman"/>
              </a:rPr>
              <a:t>Ground-truth mask</a:t>
            </a:r>
          </a:p>
          <a:p>
            <a:pPr algn="ctr"/>
            <a:r>
              <a:rPr sz="1200">
                <a:solidFill>
                  <a:srgbClr val="000000"/>
                </a:solidFill>
                <a:latin typeface="Times New Roman"/>
              </a:rPr>
              <a:t>(PNG, 512 × 512)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020824"/>
            <a:ext cx="3931920" cy="237744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200" b="1">
                <a:latin typeface="Times New Roman"/>
              </a:rPr>
              <a:t>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0" y="2249424"/>
            <a:ext cx="3931920" cy="457200"/>
          </a:xfrm>
          <a:prstGeom prst="roundRect">
            <a:avLst/>
          </a:prstGeom>
          <a:solidFill>
            <a:srgbClr val="E4EEFB"/>
          </a:solidFill>
          <a:ln w="15875">
            <a:solidFill>
              <a:srgbClr val="2F6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>
                <a:solidFill>
                  <a:srgbClr val="000000"/>
                </a:solidFill>
                <a:latin typeface="Times New Roman"/>
              </a:rPr>
              <a:t>Grayscale (L)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679192"/>
            <a:ext cx="3931920" cy="237744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200" b="1">
                <a:latin typeface="Times New Roman"/>
              </a:rPr>
              <a:t>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0" y="2907792"/>
            <a:ext cx="3931920" cy="566928"/>
          </a:xfrm>
          <a:prstGeom prst="roundRect">
            <a:avLst/>
          </a:prstGeom>
          <a:solidFill>
            <a:srgbClr val="E4EEFB"/>
          </a:solidFill>
          <a:ln w="15875">
            <a:solidFill>
              <a:srgbClr val="2F6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>
                <a:solidFill>
                  <a:srgbClr val="000000"/>
                </a:solidFill>
                <a:latin typeface="Times New Roman"/>
              </a:rPr>
              <a:t>Binarize: pixel ≠ 0 → 1</a:t>
            </a:r>
          </a:p>
          <a:p>
            <a:pPr algn="ctr"/>
            <a:r>
              <a:rPr sz="1200">
                <a:solidFill>
                  <a:srgbClr val="000000"/>
                </a:solidFill>
                <a:latin typeface="Times New Roman"/>
              </a:rPr>
              <a:t>({0,1} and {0,255} both handled)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3447288"/>
            <a:ext cx="3931920" cy="237744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200" b="1">
                <a:latin typeface="Times New Roman"/>
              </a:rPr>
              <a:t>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80" y="3675888"/>
            <a:ext cx="3931920" cy="457200"/>
          </a:xfrm>
          <a:prstGeom prst="roundRect">
            <a:avLst/>
          </a:prstGeom>
          <a:solidFill>
            <a:srgbClr val="E4EEFB"/>
          </a:solidFill>
          <a:ln w="15875">
            <a:solidFill>
              <a:srgbClr val="2F6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>
                <a:solidFill>
                  <a:srgbClr val="000000"/>
                </a:solidFill>
                <a:latin typeface="Times New Roman"/>
              </a:rPr>
              <a:t>No resizing (native 512)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4105656"/>
            <a:ext cx="3931920" cy="237744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200" b="1">
                <a:latin typeface="Times New Roman"/>
              </a:rPr>
              <a:t>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0" y="4334256"/>
            <a:ext cx="3931920" cy="566928"/>
          </a:xfrm>
          <a:prstGeom prst="roundRect">
            <a:avLst/>
          </a:prstGeom>
          <a:solidFill>
            <a:srgbClr val="E4EEFB"/>
          </a:solidFill>
          <a:ln w="15875">
            <a:solidFill>
              <a:srgbClr val="2F6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>
                <a:solidFill>
                  <a:srgbClr val="000000"/>
                </a:solidFill>
                <a:latin typeface="Times New Roman"/>
              </a:rPr>
              <a:t>Binary mask {0,1}</a:t>
            </a:r>
          </a:p>
          <a:p>
            <a:pPr algn="ctr"/>
            <a:r>
              <a:rPr sz="1200">
                <a:solidFill>
                  <a:srgbClr val="000000"/>
                </a:solidFill>
                <a:latin typeface="Times New Roman"/>
              </a:rPr>
              <a:t>1 × 512 × 512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 1: RGB512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124712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28600" y="1143000"/>
          <a:ext cx="4572000" cy="402336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554480"/>
                <a:gridCol w="1920240"/>
                <a:gridCol w="1097280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Metric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Best Validation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Epoch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Dice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/>
                        <a:t>0.802726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/>
                        <a:t>29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IoU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/>
                        <a:t>0.670461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/>
                        <a:t>29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Precision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/>
                        <a:t>0.894267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/>
                        <a:t>29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Recall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/>
                        <a:t>0.728185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/>
                        <a:t>29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F1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/>
                        <a:t>0.802726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/>
                        <a:t>29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Accuracy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/>
                        <a:t>0.993201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/>
                        <a:t>29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Validation Loss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/>
                        <a:t>0.380392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/>
                        <a:t>29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983480" y="1143000"/>
          <a:ext cx="3931920" cy="402336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645920"/>
                <a:gridCol w="2286000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Metric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Test Result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Dice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/>
                        <a:t>0.791852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IoU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/>
                        <a:t>0.655427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Precision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/>
                        <a:t>0.884246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Recall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/>
                        <a:t>0.716940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F1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/>
                        <a:t>0.791852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Accuracy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/>
                        <a:t>0.993060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Test Loss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/>
                        <a:t>Not computed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5715000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A4B00"/>
                </a:solidFill>
              </a:defRPr>
            </a:pPr>
            <a:r>
              <a:t>TEST METRICS: Global pixel-level (micro) scores at threshold 0.50. Mean per-image (macro) scores: Dice/F1 0.637696, IoU 0.569287, Precision 0.720386, Recall 0.616201. Test loss was not calculated from the per-image metrics. The test split contains 3,750 tampered images and 0 authentic images; authentic-image false-alarm rate cannot be estimated from this split.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 2: RGB + ELA 512: Architecture</a:t>
            </a:r>
          </a:p>
        </p:txBody>
      </p:sp>
      <p:pic>
        <p:nvPicPr>
          <p:cNvPr id="3" name="Picture 2" descr="sl_rgb_ela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7372" y="960120"/>
            <a:ext cx="590925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 2: RGB + ELA 512: Preprocessing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6576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600" b="1">
                <a:latin typeface="Times New Roman"/>
              </a:rPr>
              <a:t>Image branch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81328"/>
            <a:ext cx="3657600" cy="566928"/>
          </a:xfrm>
          <a:prstGeom prst="roundRect">
            <a:avLst/>
          </a:prstGeom>
          <a:solidFill>
            <a:srgbClr val="E4EEFB"/>
          </a:solidFill>
          <a:ln w="15875">
            <a:solidFill>
              <a:srgbClr val="2F6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>
                <a:solidFill>
                  <a:srgbClr val="000000"/>
                </a:solidFill>
                <a:latin typeface="Times New Roman"/>
              </a:rPr>
              <a:t>Original DocTamper image</a:t>
            </a:r>
          </a:p>
          <a:p>
            <a:pPr algn="ctr"/>
            <a:r>
              <a:rPr sz="1200">
                <a:solidFill>
                  <a:srgbClr val="000000"/>
                </a:solidFill>
                <a:latin typeface="Times New Roman"/>
              </a:rPr>
              <a:t>(stored JPEG, 512 × 512)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20824"/>
            <a:ext cx="3657600" cy="237744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200" b="1">
                <a:latin typeface="Times New Roman"/>
              </a:rPr>
              <a:t>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249424"/>
            <a:ext cx="3657600" cy="457200"/>
          </a:xfrm>
          <a:prstGeom prst="roundRect">
            <a:avLst/>
          </a:prstGeom>
          <a:solidFill>
            <a:srgbClr val="E4EEFB"/>
          </a:solidFill>
          <a:ln w="15875">
            <a:solidFill>
              <a:srgbClr val="2F6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>
                <a:solidFill>
                  <a:srgbClr val="000000"/>
                </a:solidFill>
                <a:latin typeface="Times New Roman"/>
              </a:rPr>
              <a:t>RGB conversion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79192"/>
            <a:ext cx="3657600" cy="237744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200" b="1">
                <a:latin typeface="Times New Roman"/>
              </a:rPr>
              <a:t>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07792"/>
            <a:ext cx="3657600" cy="768096"/>
          </a:xfrm>
          <a:prstGeom prst="roundRect">
            <a:avLst/>
          </a:prstGeom>
          <a:solidFill>
            <a:srgbClr val="E4EEFB"/>
          </a:solidFill>
          <a:ln w="15875">
            <a:solidFill>
              <a:srgbClr val="2F6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>
                <a:solidFill>
                  <a:srgbClr val="000000"/>
                </a:solidFill>
                <a:latin typeface="Times New Roman"/>
              </a:rPr>
              <a:t>RGB: normalize [0,255] → [0,1]</a:t>
            </a:r>
          </a:p>
          <a:p>
            <a:pPr algn="ctr"/>
            <a:r>
              <a:rPr sz="1200">
                <a:solidFill>
                  <a:srgbClr val="000000"/>
                </a:solidFill>
                <a:latin typeface="Times New Roman"/>
              </a:rPr>
              <a:t>ELA: JPEG Q90 re-save,</a:t>
            </a:r>
          </a:p>
          <a:p>
            <a:pPr algn="ctr"/>
            <a:r>
              <a:rPr sz="1200">
                <a:solidFill>
                  <a:srgbClr val="000000"/>
                </a:solidFill>
                <a:latin typeface="Times New Roman"/>
              </a:rPr>
              <a:t>|diff| × 15, clip, ÷ 255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48456"/>
            <a:ext cx="3657600" cy="237744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200" b="1">
                <a:latin typeface="Times New Roman"/>
              </a:rPr>
              <a:t>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877056"/>
            <a:ext cx="3657600" cy="566928"/>
          </a:xfrm>
          <a:prstGeom prst="roundRect">
            <a:avLst/>
          </a:prstGeom>
          <a:solidFill>
            <a:srgbClr val="E4EEFB"/>
          </a:solidFill>
          <a:ln w="15875">
            <a:solidFill>
              <a:srgbClr val="2F6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>
                <a:solidFill>
                  <a:srgbClr val="000000"/>
                </a:solidFill>
                <a:latin typeface="Times New Roman"/>
              </a:rPr>
              <a:t>Concatenate RGB + ELA</a:t>
            </a:r>
          </a:p>
          <a:p>
            <a:pPr algn="ctr"/>
            <a:r>
              <a:rPr sz="1200">
                <a:solidFill>
                  <a:srgbClr val="000000"/>
                </a:solidFill>
                <a:latin typeface="Times New Roman"/>
              </a:rPr>
              <a:t>(4 × 512 × 512)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416552"/>
            <a:ext cx="3657600" cy="237744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200" b="1">
                <a:latin typeface="Times New Roman"/>
              </a:rPr>
              <a:t>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645152"/>
            <a:ext cx="3657600" cy="457200"/>
          </a:xfrm>
          <a:prstGeom prst="roundRect">
            <a:avLst/>
          </a:prstGeom>
          <a:solidFill>
            <a:srgbClr val="E4EEFB"/>
          </a:solidFill>
          <a:ln w="15875">
            <a:solidFill>
              <a:srgbClr val="2F6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>
                <a:solidFill>
                  <a:srgbClr val="000000"/>
                </a:solidFill>
                <a:latin typeface="Times New Roman"/>
              </a:rPr>
              <a:t>DWS U-Net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1097280"/>
            <a:ext cx="393192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600" b="1">
                <a:latin typeface="Times New Roman"/>
              </a:rPr>
              <a:t>Ground-truth mask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0" y="1481328"/>
            <a:ext cx="3931920" cy="566928"/>
          </a:xfrm>
          <a:prstGeom prst="roundRect">
            <a:avLst/>
          </a:prstGeom>
          <a:solidFill>
            <a:srgbClr val="E4EEFB"/>
          </a:solidFill>
          <a:ln w="15875">
            <a:solidFill>
              <a:srgbClr val="2F6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>
                <a:solidFill>
                  <a:srgbClr val="000000"/>
                </a:solidFill>
                <a:latin typeface="Times New Roman"/>
              </a:rPr>
              <a:t>Ground-truth mask</a:t>
            </a:r>
          </a:p>
          <a:p>
            <a:pPr algn="ctr"/>
            <a:r>
              <a:rPr sz="1200">
                <a:solidFill>
                  <a:srgbClr val="000000"/>
                </a:solidFill>
                <a:latin typeface="Times New Roman"/>
              </a:rPr>
              <a:t>(PNG, 512 × 512)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020824"/>
            <a:ext cx="3931920" cy="237744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200" b="1">
                <a:latin typeface="Times New Roman"/>
              </a:rPr>
              <a:t>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0" y="2249424"/>
            <a:ext cx="3931920" cy="457200"/>
          </a:xfrm>
          <a:prstGeom prst="roundRect">
            <a:avLst/>
          </a:prstGeom>
          <a:solidFill>
            <a:srgbClr val="E4EEFB"/>
          </a:solidFill>
          <a:ln w="15875">
            <a:solidFill>
              <a:srgbClr val="2F6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>
                <a:solidFill>
                  <a:srgbClr val="000000"/>
                </a:solidFill>
                <a:latin typeface="Times New Roman"/>
              </a:rPr>
              <a:t>Grayscale (L)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679192"/>
            <a:ext cx="3931920" cy="237744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200" b="1">
                <a:latin typeface="Times New Roman"/>
              </a:rPr>
              <a:t>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80" y="2907792"/>
            <a:ext cx="3931920" cy="566928"/>
          </a:xfrm>
          <a:prstGeom prst="roundRect">
            <a:avLst/>
          </a:prstGeom>
          <a:solidFill>
            <a:srgbClr val="E4EEFB"/>
          </a:solidFill>
          <a:ln w="15875">
            <a:solidFill>
              <a:srgbClr val="2F6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>
                <a:solidFill>
                  <a:srgbClr val="000000"/>
                </a:solidFill>
                <a:latin typeface="Times New Roman"/>
              </a:rPr>
              <a:t>Binarize: pixel ≠ 0 → 1</a:t>
            </a:r>
          </a:p>
          <a:p>
            <a:pPr algn="ctr"/>
            <a:r>
              <a:rPr sz="1200">
                <a:solidFill>
                  <a:srgbClr val="000000"/>
                </a:solidFill>
                <a:latin typeface="Times New Roman"/>
              </a:rPr>
              <a:t>({0,1} and {0,255} both handled)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3447288"/>
            <a:ext cx="3931920" cy="237744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200" b="1">
                <a:latin typeface="Times New Roman"/>
              </a:rPr>
              <a:t>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0" y="3675888"/>
            <a:ext cx="3931920" cy="457200"/>
          </a:xfrm>
          <a:prstGeom prst="roundRect">
            <a:avLst/>
          </a:prstGeom>
          <a:solidFill>
            <a:srgbClr val="E4EEFB"/>
          </a:solidFill>
          <a:ln w="15875">
            <a:solidFill>
              <a:srgbClr val="2F6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>
                <a:solidFill>
                  <a:srgbClr val="000000"/>
                </a:solidFill>
                <a:latin typeface="Times New Roman"/>
              </a:rPr>
              <a:t>No resizing (native 512)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4105656"/>
            <a:ext cx="3931920" cy="237744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200" b="1">
                <a:latin typeface="Times New Roman"/>
              </a:rPr>
              <a:t>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0" y="4334256"/>
            <a:ext cx="3931920" cy="566928"/>
          </a:xfrm>
          <a:prstGeom prst="roundRect">
            <a:avLst/>
          </a:prstGeom>
          <a:solidFill>
            <a:srgbClr val="E4EEFB"/>
          </a:solidFill>
          <a:ln w="15875">
            <a:solidFill>
              <a:srgbClr val="2F6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>
                <a:solidFill>
                  <a:srgbClr val="000000"/>
                </a:solidFill>
                <a:latin typeface="Times New Roman"/>
              </a:rPr>
              <a:t>Binary mask {0,1}</a:t>
            </a:r>
          </a:p>
          <a:p>
            <a:pPr algn="ctr"/>
            <a:r>
              <a:rPr sz="1200">
                <a:solidFill>
                  <a:srgbClr val="000000"/>
                </a:solidFill>
                <a:latin typeface="Times New Roman"/>
              </a:rPr>
              <a:t>1 × 512 × 512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 2: RGB + ELA 512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124712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Macro (per-image mean): Dice 0.77705 | IoU 0.71170 | Precision 0.82852 | Recall 0.76065 | Boundary F1 0.75224. Full-test rerun cell separately reports loss 0.245788, Dice 0.883784, IoU 0.791767, Precision 0.918516, Recall 0.851582, Accuracy 0.995876; the notebook contains this small discrepancy between evaluation paths.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28600" y="1143000"/>
          <a:ext cx="4572000" cy="402336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554480"/>
                <a:gridCol w="1920240"/>
                <a:gridCol w="1097280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Metric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Best Validation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Epoch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Dice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0.884033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30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IoU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0.792168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30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Precision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0.919580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30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Recall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0.851133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30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F1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0.884033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30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Accuracy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0.995760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30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Validation Loss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0.242980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30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983480" y="1143000"/>
          <a:ext cx="3931920" cy="402336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645920"/>
                <a:gridCol w="2286000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Metric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Test Result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Dice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0.883600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IoU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0.791480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Precision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0.918240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Recall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0.851490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F1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0.883600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Accuracy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0.995870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Test Loss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NaN in saved table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 3: RGB + DCT 512: Architecture</a:t>
            </a:r>
          </a:p>
        </p:txBody>
      </p:sp>
      <p:pic>
        <p:nvPicPr>
          <p:cNvPr id="3" name="Picture 2" descr="sl_rgb_dct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833" y="960120"/>
            <a:ext cx="7716332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 3: RGB + DCT 512: Preprocessing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1005840"/>
            <a:ext cx="265176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600" b="1">
                <a:latin typeface="Times New Roman"/>
              </a:rPr>
              <a:t>RGB branch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" y="1389888"/>
            <a:ext cx="2651760" cy="566928"/>
          </a:xfrm>
          <a:prstGeom prst="roundRect">
            <a:avLst/>
          </a:prstGeom>
          <a:solidFill>
            <a:srgbClr val="E4EEFB"/>
          </a:solidFill>
          <a:ln w="15875">
            <a:solidFill>
              <a:srgbClr val="2F6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>
                <a:solidFill>
                  <a:srgbClr val="000000"/>
                </a:solidFill>
                <a:latin typeface="Times New Roman"/>
              </a:rPr>
              <a:t>Original DocTamper image</a:t>
            </a:r>
          </a:p>
          <a:p>
            <a:pPr algn="ctr"/>
            <a:r>
              <a:rPr sz="1100">
                <a:solidFill>
                  <a:srgbClr val="000000"/>
                </a:solidFill>
                <a:latin typeface="Times New Roman"/>
              </a:rPr>
              <a:t>(stored JPEG, 512 × 512)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1929384"/>
            <a:ext cx="2651760" cy="237744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200" b="1">
                <a:latin typeface="Times New Roman"/>
              </a:rPr>
              <a:t>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" y="2157984"/>
            <a:ext cx="2651760" cy="457200"/>
          </a:xfrm>
          <a:prstGeom prst="roundRect">
            <a:avLst/>
          </a:prstGeom>
          <a:solidFill>
            <a:srgbClr val="E4EEFB"/>
          </a:solidFill>
          <a:ln w="15875">
            <a:solidFill>
              <a:srgbClr val="2F6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>
                <a:solidFill>
                  <a:srgbClr val="000000"/>
                </a:solidFill>
                <a:latin typeface="Times New Roman"/>
              </a:rPr>
              <a:t>RGB conversion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2587752"/>
            <a:ext cx="2651760" cy="237744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200" b="1">
                <a:latin typeface="Times New Roman"/>
              </a:rPr>
              <a:t>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" y="2816352"/>
            <a:ext cx="2651760" cy="566928"/>
          </a:xfrm>
          <a:prstGeom prst="roundRect">
            <a:avLst/>
          </a:prstGeom>
          <a:solidFill>
            <a:srgbClr val="E4EEFB"/>
          </a:solidFill>
          <a:ln w="15875">
            <a:solidFill>
              <a:srgbClr val="2F6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>
                <a:solidFill>
                  <a:srgbClr val="000000"/>
                </a:solidFill>
                <a:latin typeface="Times New Roman"/>
              </a:rPr>
              <a:t>Pixel normalization</a:t>
            </a:r>
          </a:p>
          <a:p>
            <a:pPr algn="ctr"/>
            <a:r>
              <a:rPr sz="1100">
                <a:solidFill>
                  <a:srgbClr val="000000"/>
                </a:solidFill>
                <a:latin typeface="Times New Roman"/>
              </a:rPr>
              <a:t>[0,255] → [0,1]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3355848"/>
            <a:ext cx="2651760" cy="237744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200" b="1">
                <a:latin typeface="Times New Roman"/>
              </a:rPr>
              <a:t>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" y="3584448"/>
            <a:ext cx="2651760" cy="566928"/>
          </a:xfrm>
          <a:prstGeom prst="roundRect">
            <a:avLst/>
          </a:prstGeom>
          <a:solidFill>
            <a:srgbClr val="E4EEFB"/>
          </a:solidFill>
          <a:ln w="15875">
            <a:solidFill>
              <a:srgbClr val="2F6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>
                <a:solidFill>
                  <a:srgbClr val="000000"/>
                </a:solidFill>
                <a:latin typeface="Times New Roman"/>
              </a:rPr>
              <a:t>RGB branch</a:t>
            </a:r>
          </a:p>
          <a:p>
            <a:pPr algn="ctr"/>
            <a:r>
              <a:rPr sz="1100">
                <a:solidFill>
                  <a:srgbClr val="000000"/>
                </a:solidFill>
                <a:latin typeface="Times New Roman"/>
              </a:rPr>
              <a:t>(3 × 512 × 512)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1005840"/>
            <a:ext cx="301752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600" b="1">
                <a:latin typeface="Times New Roman"/>
              </a:rPr>
              <a:t>DCT branch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17520" y="1389888"/>
            <a:ext cx="3017520" cy="566928"/>
          </a:xfrm>
          <a:prstGeom prst="roundRect">
            <a:avLst/>
          </a:prstGeom>
          <a:solidFill>
            <a:srgbClr val="E4EEFB"/>
          </a:solidFill>
          <a:ln w="15875">
            <a:solidFill>
              <a:srgbClr val="2F6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>
                <a:solidFill>
                  <a:srgbClr val="000000"/>
                </a:solidFill>
                <a:latin typeface="Times New Roman"/>
              </a:rPr>
              <a:t>Stored JPEG bitstream</a:t>
            </a:r>
          </a:p>
          <a:p>
            <a:pPr algn="ctr"/>
            <a:r>
              <a:rPr sz="1100">
                <a:solidFill>
                  <a:srgbClr val="000000"/>
                </a:solidFill>
                <a:latin typeface="Times New Roman"/>
              </a:rPr>
              <a:t>(non-JPEG: re-encode Q90)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1929384"/>
            <a:ext cx="3017520" cy="237744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200" b="1">
                <a:latin typeface="Times New Roman"/>
              </a:rPr>
              <a:t>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17520" y="2157984"/>
            <a:ext cx="3017520" cy="566928"/>
          </a:xfrm>
          <a:prstGeom prst="roundRect">
            <a:avLst/>
          </a:prstGeom>
          <a:solidFill>
            <a:srgbClr val="E4EEFB"/>
          </a:solidFill>
          <a:ln w="15875">
            <a:solidFill>
              <a:srgbClr val="2F6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>
                <a:solidFill>
                  <a:srgbClr val="000000"/>
                </a:solidFill>
                <a:latin typeface="Times New Roman"/>
              </a:rPr>
              <a:t>Read quantized Y-channel DCT</a:t>
            </a:r>
          </a:p>
          <a:p>
            <a:pPr algn="ctr"/>
            <a:r>
              <a:rPr sz="1100">
                <a:solidFill>
                  <a:srgbClr val="000000"/>
                </a:solidFill>
                <a:latin typeface="Times New Roman"/>
              </a:rPr>
              <a:t>(64 × 64 blocks of 8 × 8)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697480"/>
            <a:ext cx="3017520" cy="237744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200" b="1">
                <a:latin typeface="Times New Roman"/>
              </a:rPr>
              <a:t>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17520" y="2926080"/>
            <a:ext cx="3017520" cy="566928"/>
          </a:xfrm>
          <a:prstGeom prst="roundRect">
            <a:avLst/>
          </a:prstGeom>
          <a:solidFill>
            <a:srgbClr val="E4EEFB"/>
          </a:solidFill>
          <a:ln w="15875">
            <a:solidFill>
              <a:srgbClr val="2F6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>
                <a:solidFill>
                  <a:srgbClr val="000000"/>
                </a:solidFill>
                <a:latin typeface="Times New Roman"/>
              </a:rPr>
              <a:t>Rearrange to 64 channels</a:t>
            </a:r>
          </a:p>
          <a:p>
            <a:pPr algn="ctr"/>
            <a:r>
              <a:rPr sz="1100">
                <a:solidFill>
                  <a:srgbClr val="000000"/>
                </a:solidFill>
                <a:latin typeface="Times New Roman"/>
              </a:rPr>
              <a:t>(64 × 64 × 64)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3465576"/>
            <a:ext cx="3017520" cy="237744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200" b="1">
                <a:latin typeface="Times New Roman"/>
              </a:rPr>
              <a:t>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017520" y="3694176"/>
            <a:ext cx="3017520" cy="566928"/>
          </a:xfrm>
          <a:prstGeom prst="roundRect">
            <a:avLst/>
          </a:prstGeom>
          <a:solidFill>
            <a:srgbClr val="E4EEFB"/>
          </a:solidFill>
          <a:ln w="15875">
            <a:solidFill>
              <a:srgbClr val="2F6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>
                <a:solidFill>
                  <a:srgbClr val="000000"/>
                </a:solidFill>
                <a:latin typeface="Times New Roman"/>
              </a:rPr>
              <a:t>Clip ±2048, signed asinh</a:t>
            </a:r>
          </a:p>
          <a:p>
            <a:pPr algn="ctr"/>
            <a:r>
              <a:rPr sz="1100">
                <a:solidFill>
                  <a:srgbClr val="000000"/>
                </a:solidFill>
                <a:latin typeface="Times New Roman"/>
              </a:rPr>
              <a:t>asinh(x/20) / asinh(2048/20)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4233672"/>
            <a:ext cx="3017520" cy="237744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200" b="1">
                <a:latin typeface="Times New Roman"/>
              </a:rPr>
              <a:t>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17520" y="4462272"/>
            <a:ext cx="3017520" cy="457200"/>
          </a:xfrm>
          <a:prstGeom prst="roundRect">
            <a:avLst/>
          </a:prstGeom>
          <a:solidFill>
            <a:srgbClr val="E4EEFB"/>
          </a:solidFill>
          <a:ln w="15875">
            <a:solidFill>
              <a:srgbClr val="2F6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>
                <a:solidFill>
                  <a:srgbClr val="000000"/>
                </a:solidFill>
                <a:latin typeface="Times New Roman"/>
              </a:rPr>
              <a:t>Per-channel z-score, clip ±10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4892040"/>
            <a:ext cx="3017520" cy="237744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200" b="1">
                <a:latin typeface="Times New Roman"/>
              </a:rPr>
              <a:t>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017520" y="5120640"/>
            <a:ext cx="3017520" cy="457200"/>
          </a:xfrm>
          <a:prstGeom prst="roundRect">
            <a:avLst/>
          </a:prstGeom>
          <a:solidFill>
            <a:srgbClr val="E4EEFB"/>
          </a:solidFill>
          <a:ln w="15875">
            <a:solidFill>
              <a:srgbClr val="2F6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>
                <a:solidFill>
                  <a:srgbClr val="000000"/>
                </a:solidFill>
                <a:latin typeface="Times New Roman"/>
              </a:rPr>
              <a:t>DCT stem → fuse at 1/8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1005840"/>
            <a:ext cx="265176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600" b="1">
                <a:latin typeface="Times New Roman"/>
              </a:rPr>
              <a:t>Ground-truth mask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1389888"/>
            <a:ext cx="2651760" cy="566928"/>
          </a:xfrm>
          <a:prstGeom prst="roundRect">
            <a:avLst/>
          </a:prstGeom>
          <a:solidFill>
            <a:srgbClr val="E4EEFB"/>
          </a:solidFill>
          <a:ln w="15875">
            <a:solidFill>
              <a:srgbClr val="2F6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>
                <a:solidFill>
                  <a:srgbClr val="000000"/>
                </a:solidFill>
                <a:latin typeface="Times New Roman"/>
              </a:rPr>
              <a:t>Ground-truth mask</a:t>
            </a:r>
          </a:p>
          <a:p>
            <a:pPr algn="ctr"/>
            <a:r>
              <a:rPr sz="1100">
                <a:solidFill>
                  <a:srgbClr val="000000"/>
                </a:solidFill>
                <a:latin typeface="Times New Roman"/>
              </a:rPr>
              <a:t>(PNG, 512 × 512)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1929384"/>
            <a:ext cx="2651760" cy="237744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200" b="1">
                <a:latin typeface="Times New Roman"/>
              </a:rPr>
              <a:t>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2157984"/>
            <a:ext cx="2651760" cy="457200"/>
          </a:xfrm>
          <a:prstGeom prst="roundRect">
            <a:avLst/>
          </a:prstGeom>
          <a:solidFill>
            <a:srgbClr val="E4EEFB"/>
          </a:solidFill>
          <a:ln w="15875">
            <a:solidFill>
              <a:srgbClr val="2F6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>
                <a:solidFill>
                  <a:srgbClr val="000000"/>
                </a:solidFill>
                <a:latin typeface="Times New Roman"/>
              </a:rPr>
              <a:t>Grayscale (L)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2587752"/>
            <a:ext cx="2651760" cy="237744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200" b="1">
                <a:latin typeface="Times New Roman"/>
              </a:rPr>
              <a:t>↓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2816352"/>
            <a:ext cx="2651760" cy="566928"/>
          </a:xfrm>
          <a:prstGeom prst="roundRect">
            <a:avLst/>
          </a:prstGeom>
          <a:solidFill>
            <a:srgbClr val="E4EEFB"/>
          </a:solidFill>
          <a:ln w="15875">
            <a:solidFill>
              <a:srgbClr val="2F6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>
                <a:solidFill>
                  <a:srgbClr val="000000"/>
                </a:solidFill>
                <a:latin typeface="Times New Roman"/>
              </a:rPr>
              <a:t>Binarize: &gt; 0 if max ≤ 1,</a:t>
            </a:r>
          </a:p>
          <a:p>
            <a:pPr algn="ctr"/>
            <a:r>
              <a:rPr sz="1100">
                <a:solidFill>
                  <a:srgbClr val="000000"/>
                </a:solidFill>
                <a:latin typeface="Times New Roman"/>
              </a:rPr>
              <a:t>else &gt; 127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3355848"/>
            <a:ext cx="2651760" cy="237744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200" b="1">
                <a:latin typeface="Times New Roman"/>
              </a:rPr>
              <a:t>↓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3584448"/>
            <a:ext cx="2651760" cy="457200"/>
          </a:xfrm>
          <a:prstGeom prst="roundRect">
            <a:avLst/>
          </a:prstGeom>
          <a:solidFill>
            <a:srgbClr val="E4EEFB"/>
          </a:solidFill>
          <a:ln w="15875">
            <a:solidFill>
              <a:srgbClr val="2F6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>
                <a:solidFill>
                  <a:srgbClr val="000000"/>
                </a:solidFill>
                <a:latin typeface="Times New Roman"/>
              </a:rPr>
              <a:t>No resizing (native 512)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4014216"/>
            <a:ext cx="2651760" cy="237744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200" b="1">
                <a:latin typeface="Times New Roman"/>
              </a:rPr>
              <a:t>↓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4242816"/>
            <a:ext cx="2651760" cy="566928"/>
          </a:xfrm>
          <a:prstGeom prst="roundRect">
            <a:avLst/>
          </a:prstGeom>
          <a:solidFill>
            <a:srgbClr val="E4EEFB"/>
          </a:solidFill>
          <a:ln w="15875">
            <a:solidFill>
              <a:srgbClr val="2F6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>
                <a:solidFill>
                  <a:srgbClr val="000000"/>
                </a:solidFill>
                <a:latin typeface="Times New Roman"/>
              </a:rPr>
              <a:t>Binary mask {0,1}</a:t>
            </a:r>
          </a:p>
          <a:p>
            <a:pPr algn="ctr"/>
            <a:r>
              <a:rPr sz="1100">
                <a:solidFill>
                  <a:srgbClr val="000000"/>
                </a:solidFill>
                <a:latin typeface="Times New Roman"/>
              </a:rPr>
              <a:t>1 × 512 × 512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 3: RGB + DCT 512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124712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28600" y="1143000"/>
          <a:ext cx="4572000" cy="402336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554480"/>
                <a:gridCol w="1920240"/>
                <a:gridCol w="1097280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Metric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Best Validation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Epoch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Dice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/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/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IoU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/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/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Precision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/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/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Recall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/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/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F1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/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/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Accuracy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/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/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Validation Loss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/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/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983480" y="1143000"/>
          <a:ext cx="3931920" cy="402336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645920"/>
                <a:gridCol w="2286000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Metric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Test Result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Dice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/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IoU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/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Precision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/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Recall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/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F1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/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Accuracy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/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Test Loss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/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of 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1188720"/>
          <a:ext cx="8778240" cy="292608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7360"/>
                <a:gridCol w="1920240"/>
                <a:gridCol w="1097280"/>
                <a:gridCol w="1005840"/>
                <a:gridCol w="822960"/>
                <a:gridCol w="1097280"/>
                <a:gridCol w="1097280"/>
              </a:tblGrid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Experiment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Input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Params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Best Val Dice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Epoch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Test Dice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Test IoU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RGB512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RGB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2.16M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/>
                        <a:t>0.8027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/>
                        <a:t>29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/>
                        <a:t>0.7919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/>
                        <a:t>0.6554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RGB + ELA 512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RGB + ELA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2.16M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0.8840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30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0.8836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0.7915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RGB + DCT 512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RGB + DCT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2.26M</a:t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/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/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/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/>
                      </a:r>
                    </a:p>
                  </a:txBody>
                  <a:tcPr anchor="ctr" marL="54864" marR="54864" marT="27432" marB="27432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897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AA4B00"/>
                </a:solidFill>
              </a:defRPr>
            </a:pPr>
            <a:r>
              <a:t>RGB512 values are from the native RGB-only notebook; RGB + ELA 512 values are from rgb-ela-512-eval.ipynb. Test Dice/IoU are global pixel-level (micro) metrics. ELA macro test metrics: Dice 0.77705, IoU 0.71170. RGB + DCT remains unfilled pending its own evaluation.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600" b="1"/>
              <a:t>ELA</a:t>
            </a:r>
            <a:r>
              <a:rPr sz="2600"/>
              <a:t> adds a pixel-aligned error-level channel at almost no cost (+75 parameters)</a:t>
            </a:r>
          </a:p>
          <a:p>
            <a:pPr/>
            <a:r>
              <a:rPr sz="2600" b="1"/>
              <a:t>DCT</a:t>
            </a:r>
            <a:r>
              <a:rPr sz="2600"/>
              <a:t> exposes compression-domain traces through a separate branch fused at 1/8 resolution</a:t>
            </a:r>
          </a:p>
          <a:p>
            <a:pPr/>
            <a:r>
              <a:rPr sz="2600"/>
              <a:t>Same backbone, split, loss and optimizer isolate the effect of </a:t>
            </a:r>
            <a:r>
              <a:rPr sz="2600" b="1"/>
              <a:t>each feature</a:t>
            </a:r>
          </a:p>
          <a:p>
            <a:pPr/>
            <a:r>
              <a:rPr sz="2600"/>
              <a:t>Results: </a:t>
            </a:r>
            <a:r>
              <a:rPr sz="2600" b="1"/>
              <a:t>to be filled after training and testing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0EFBF-D2D0-5457-6D28-0991392D1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>
            <a:extLst>
              <a:ext uri="{FF2B5EF4-FFF2-40B4-BE49-F238E27FC236}">
                <a16:creationId xmlns:a16="http://schemas.microsoft.com/office/drawing/2014/main" id="{FD8B5B0F-226D-9241-4DF7-FF1D2911C6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AU" altLang="en-US" b="1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C3247F9-B9AC-0FAD-CBB4-E58EDA514B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18" y="3276600"/>
            <a:ext cx="9144000" cy="990600"/>
          </a:xfrm>
        </p:spPr>
        <p:txBody>
          <a:bodyPr/>
          <a:lstStyle/>
          <a:p>
            <a:pPr marL="0" indent="0" algn="ctr">
              <a:buClr>
                <a:schemeClr val="accent2">
                  <a:lumMod val="75000"/>
                </a:schemeClr>
              </a:buClr>
              <a:buNone/>
              <a:defRPr/>
            </a:pPr>
            <a:r>
              <a:rPr lang="en-US" sz="4500" dirty="0"/>
              <a:t>Thank you</a:t>
            </a:r>
            <a:endParaRPr lang="en-IN" sz="4500" dirty="0"/>
          </a:p>
        </p:txBody>
      </p:sp>
    </p:spTree>
    <p:extLst>
      <p:ext uri="{BB962C8B-B14F-4D97-AF65-F5344CB8AC3E}">
        <p14:creationId xmlns:p14="http://schemas.microsoft.com/office/powerpoint/2010/main" val="2162599508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Native RGB512: Results &amp; Reproducibility 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2588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t>EXPERIMENT CONFIGURATION</a:t>
            </a:r>
            <a:br/>
            <a:r>
              <a:t>• Input: RGB, 3 × 512 × 512; no resizing</a:t>
            </a:r>
            <a:br/>
            <a:r>
              <a:t>• DWS U-Net, 2,162,658 trainable parameters</a:t>
            </a:r>
            <a:br/>
            <a:r>
              <a:t>• Fixed split: 18,750 train / 2,500 validation / 3,750 test</a:t>
            </a:r>
            <a:br/>
            <a:r>
              <a:t>• BCE + Dice; AdamW, lr 1e−4, weight decay 1e−4</a:t>
            </a:r>
            <a:br/>
            <a:r>
              <a:t>• Batch size 8; seed 42; threshold 0.50</a:t>
            </a:r>
            <a:br/>
            <a:br/>
            <a:r>
              <a:t>BEST VALIDATION — EPOCH 29</a:t>
            </a:r>
            <a:br/>
            <a:r>
              <a:t>• Dice/F1 0.802726; IoU 0.670461</a:t>
            </a:r>
            <a:br/>
            <a:r>
              <a:t>• Precision 0.894267; Recall 0.728185</a:t>
            </a:r>
            <a:br/>
            <a:r>
              <a:t>• Accuracy 0.993201; validation loss 0.380392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63640" y="1325880"/>
            <a:ext cx="5303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/>
            </a:pPr>
            <a:r>
              <a:t>RGB512 — HELD-OUT TEST RESULTS</a:t>
            </a:r>
            <a:br/>
            <a:r>
              <a:t>• Micro Dice/F1 0.791852; IoU 0.655427</a:t>
            </a:r>
            <a:br/>
            <a:r>
              <a:t>• Micro precision 0.884246; recall 0.716940; accuracy 0.993060</a:t>
            </a:r>
            <a:br/>
            <a:r>
              <a:t>• Macro Dice/F1 0.637696; IoU 0.569287</a:t>
            </a:r>
            <a:br/>
            <a:br/>
            <a:r>
              <a:t>RGB + ELA 512 — HELD-OUT TEST RESULTS</a:t>
            </a:r>
            <a:br/>
            <a:r>
              <a:t>• Best validation epoch 30; Dice 0.884033; IoU 0.792168</a:t>
            </a:r>
            <a:br/>
            <a:r>
              <a:t>• Test micro Dice/F1 0.883600; IoU 0.791480</a:t>
            </a:r>
            <a:br/>
            <a:r>
              <a:t>• Test micro precision 0.918240; recall 0.851490; accuracy 0.995870</a:t>
            </a:r>
            <a:br/>
            <a:r>
              <a:t>• Test macro Dice/F1 0.777050; IoU 0.711700; precision 0.828520; recall 0.760650</a:t>
            </a:r>
            <a:br/>
            <a:br/>
            <a:r>
              <a:t>NOTE: RGB + ELA figures are from rgb-ela-512-eval.ipynb. Its main saved test table differs slightly from a later full-test evaluation cell (Dice 0.883784, IoU 0.791767). Keep the chosen reporting path consistent. RGB + DCT remains pending.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islab2006-Eng">
  <a:themeElements>
    <a:clrScheme name="1_islab2006-Eng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1_islab2006-Eng">
      <a:majorFont>
        <a:latin typeface="Arial Narrow"/>
        <a:ea typeface="Gulim"/>
        <a:cs typeface=""/>
      </a:majorFont>
      <a:minorFont>
        <a:latin typeface="Arial Narrow"/>
        <a:ea typeface="Guli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itchFamily="34" charset="0"/>
            <a:ea typeface="MS PGothic" pitchFamily="3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itchFamily="34" charset="0"/>
            <a:ea typeface="MS PGothic" pitchFamily="34" charset="-128"/>
          </a:defRPr>
        </a:defPPr>
      </a:lstStyle>
    </a:lnDef>
  </a:objectDefaults>
  <a:extraClrSchemeLst>
    <a:extraClrScheme>
      <a:clrScheme name="1_islab2006-Eng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islab2006-Eng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islab2006-Eng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islab2006-Eng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islab2006-Eng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islab2006-Eng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islab2006-Eng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CSE-template3 (6)</Template>
  <TotalTime>1425</TotalTime>
  <Words>1268</Words>
  <Application>Microsoft Office PowerPoint</Application>
  <PresentationFormat>On-screen Show (4:3)</PresentationFormat>
  <Paragraphs>164</Paragraphs>
  <Slides>28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28</vt:i4>
      </vt:variant>
    </vt:vector>
  </HeadingPairs>
  <TitlesOfParts>
    <vt:vector size="38" baseType="lpstr">
      <vt:lpstr>Arial</vt:lpstr>
      <vt:lpstr>Arial Narrow</vt:lpstr>
      <vt:lpstr>Calibri</vt:lpstr>
      <vt:lpstr>Cambria Math</vt:lpstr>
      <vt:lpstr>Constantia</vt:lpstr>
      <vt:lpstr>Tahoma</vt:lpstr>
      <vt:lpstr>Times New Roman</vt:lpstr>
      <vt:lpstr>Wingdings</vt:lpstr>
      <vt:lpstr>1_islab2006-Eng</vt:lpstr>
      <vt:lpstr>Custom Design</vt:lpstr>
      <vt:lpstr>Introduction to Autoencoders </vt:lpstr>
      <vt:lpstr>Content</vt:lpstr>
      <vt:lpstr>What is an Autoencoder?</vt:lpstr>
      <vt:lpstr>When to Use Autoencoders?</vt:lpstr>
      <vt:lpstr>Basic Architecture</vt:lpstr>
      <vt:lpstr>Basic Architecture (Contd..)</vt:lpstr>
      <vt:lpstr>Basic Architecture (Contd..)</vt:lpstr>
      <vt:lpstr>Basic Architecture (Contd..)</vt:lpstr>
      <vt:lpstr>Basic Architecture (Contd..)</vt:lpstr>
      <vt:lpstr>Basic Architecture (Contd..)</vt:lpstr>
      <vt:lpstr>How the Encoder Works?</vt:lpstr>
      <vt:lpstr>How the Encoder Works? (Contd..)</vt:lpstr>
      <vt:lpstr>How the Encoder Works? (Contd..)</vt:lpstr>
      <vt:lpstr>How the Encoder Works? (Contd..)</vt:lpstr>
      <vt:lpstr>How the Decoder Reconstructs Image?</vt:lpstr>
      <vt:lpstr>How the Decoder Reconstructs Image? (Contd…)</vt:lpstr>
      <vt:lpstr>How Decoder Increases Image Size?</vt:lpstr>
      <vt:lpstr>How Decoder Increases Image Size? (contd..)</vt:lpstr>
      <vt:lpstr>How Channels are Reduced in the Decoder?</vt:lpstr>
      <vt:lpstr>Types of Autoencoders</vt:lpstr>
      <vt:lpstr>Types of Autoencoders (Contd..)</vt:lpstr>
      <vt:lpstr>Types of Autoencoders (Contd..)</vt:lpstr>
      <vt:lpstr>Types of Autoencoders (Contd..)</vt:lpstr>
      <vt:lpstr>Types of Autoencoders (Contd..)</vt:lpstr>
      <vt:lpstr>Advantages of Autoencoders</vt:lpstr>
      <vt:lpstr>Limitations of Autoencoders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priyam</dc:creator>
  <cp:lastModifiedBy>Piash Ahmad</cp:lastModifiedBy>
  <cp:revision>387</cp:revision>
  <dcterms:created xsi:type="dcterms:W3CDTF">2012-03-24T22:43:44Z</dcterms:created>
  <dcterms:modified xsi:type="dcterms:W3CDTF">2026-10-11T05:18:48Z</dcterms:modified>
</cp:coreProperties>
</file>